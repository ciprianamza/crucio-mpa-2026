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ELO</c:v>
                </c:pt>
              </c:strCache>
            </c:strRef>
          </c:tx>
          <c:spPr>
            <a:solidFill>
              <a:srgbClr val="14B8A6"/>
            </a:solidFill>
            <a:ln w="31750" cap="flat">
              <a:solidFill>
                <a:srgbClr val="14B8A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4B8A6"/>
              </a:solidFill>
              <a:ln w="9525" cap="flat">
                <a:solidFill>
                  <a:srgbClr val="14B8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</c:f>
              <c:multiLvlStrCache>
                <c:ptCount val="2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</c:lvl>
              </c:multiLvlStrCache>
            </c:multiLvl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1200</c:v>
                </c:pt>
                <c:pt idx="1">
                  <c:v>1215</c:v>
                </c:pt>
                <c:pt idx="2">
                  <c:v>1232</c:v>
                </c:pt>
                <c:pt idx="3">
                  <c:v>1250</c:v>
                </c:pt>
                <c:pt idx="4">
                  <c:v>1275</c:v>
                </c:pt>
                <c:pt idx="5">
                  <c:v>1295</c:v>
                </c:pt>
                <c:pt idx="6">
                  <c:v>1310</c:v>
                </c:pt>
                <c:pt idx="7">
                  <c:v>1318</c:v>
                </c:pt>
                <c:pt idx="8">
                  <c:v>1325</c:v>
                </c:pt>
                <c:pt idx="9">
                  <c:v>1330</c:v>
                </c:pt>
                <c:pt idx="10">
                  <c:v>1332</c:v>
                </c:pt>
                <c:pt idx="11">
                  <c:v>1334</c:v>
                </c:pt>
                <c:pt idx="12">
                  <c:v>1333</c:v>
                </c:pt>
                <c:pt idx="13">
                  <c:v>1332</c:v>
                </c:pt>
                <c:pt idx="14">
                  <c:v>1334</c:v>
                </c:pt>
                <c:pt idx="15">
                  <c:v>1335</c:v>
                </c:pt>
                <c:pt idx="16">
                  <c:v>1333</c:v>
                </c:pt>
                <c:pt idx="17">
                  <c:v>1334</c:v>
                </c:pt>
                <c:pt idx="18">
                  <c:v>1336</c:v>
                </c:pt>
                <c:pt idx="19">
                  <c:v>1335</c:v>
                </c:pt>
                <c:pt idx="20">
                  <c:v>1334</c:v>
                </c:pt>
                <c:pt idx="21">
                  <c:v>1335</c:v>
                </c:pt>
                <c:pt idx="22">
                  <c:v>1336</c:v>
                </c:pt>
                <c:pt idx="23">
                  <c:v>1334</c:v>
                </c:pt>
                <c:pt idx="24">
                  <c:v>1335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80"/>
          <c:min val="118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5F3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00" y="457200"/>
            <a:ext cx="640080" cy="640080"/>
          </a:xfrm>
          <a:prstGeom prst="ellipse">
            <a:avLst/>
          </a:prstGeom>
          <a:solidFill>
            <a:srgbClr val="111133"/>
          </a:solidFill>
          <a:ln w="15240">
            <a:solidFill>
              <a:srgbClr val="FBBF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03636" y="521208"/>
            <a:ext cx="64008" cy="28803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4434" y="726034"/>
            <a:ext cx="102413" cy="10241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38560" y="1280160"/>
            <a:ext cx="365760" cy="365760"/>
          </a:xfrm>
          <a:prstGeom prst="ellipse">
            <a:avLst/>
          </a:prstGeom>
          <a:solidFill>
            <a:srgbClr val="111133"/>
          </a:solidFill>
          <a:ln w="15240">
            <a:solidFill>
              <a:srgbClr val="5EEA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1316736"/>
            <a:ext cx="36576" cy="164592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92179" y="1433779"/>
            <a:ext cx="58522" cy="5852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DEEP-DIVE · TWO OF TWO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41732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Coach</a:t>
            </a:r>
            <a:endParaRPr lang="en-US" sz="9600" dirty="0"/>
          </a:p>
        </p:txBody>
      </p:sp>
      <p:sp>
        <p:nvSpPr>
          <p:cNvPr id="11" name="Text 9"/>
          <p:cNvSpPr/>
          <p:nvPr/>
        </p:nvSpPr>
        <p:spPr>
          <a:xfrm>
            <a:off x="822960" y="31089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Turning a stream of scores into the next 60 minutes of study, one personalised plan at a time.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68680" y="4297680"/>
            <a:ext cx="1097280" cy="365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6177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868680" y="5440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calls per plan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0" y="46177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3474720" y="5440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80760" y="46177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6080760" y="5440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recs returned, max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0" y="46177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8686800" y="5440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ranked by gap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6217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Grupa 506</a:t>
            </a:r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Universitatea din Bucuresti   ·   MPA 2026   ·   May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WHERE COACH FITS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agents, two distinct jobs.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5577840" cy="443484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37360"/>
            <a:ext cx="557784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28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Backwards-looking · 1 answer.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5212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it answers
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well did the candidate explain this single concept just now?"
</a:t>
            </a:r>
            <a:endParaRPr lang="en-US" sz="1150" dirty="0"/>
          </a:p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0–10000, per-criterion breakdown, strengths, gaps.
</a:t>
            </a:r>
            <a:endParaRPr lang="en-US" sz="1150" dirty="0"/>
          </a:p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 — same answer should grade the same way every time.
</a:t>
            </a:r>
            <a:endParaRPr lang="en-US" sz="1150" dirty="0"/>
          </a:p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by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/api/submit (the user just answered).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577840" cy="443484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737360"/>
            <a:ext cx="5577840" cy="457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828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46520" y="23774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Forwards-looking · N answers + a plan.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46520" y="2926080"/>
            <a:ext cx="5212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it answers
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"Given everything I know about this user, what should they do next?"
</a:t>
            </a:r>
            <a:endParaRPr lang="en-US" sz="11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Summary, weak topics, 5 recommended problems, a 30–60 min session plan.
</a:t>
            </a:r>
            <a:endParaRPr lang="en-US" sz="11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 — same user shouldn't get a copy-paste plan two days in a row.
</a:t>
            </a:r>
            <a:endParaRPr lang="en-US" sz="11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by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clicks "Get my plan" or auto-fires after every 3rd submission.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 · COACH · DEEP DIVE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0" y="64465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COACH FITS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TL;DR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Coach in 30 seconds.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1247120" cy="132588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137160" cy="13258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2024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study buddy with a calendar.
</a:t>
            </a:r>
            <a:endParaRPr lang="en-US" sz="2200" dirty="0"/>
          </a:p>
          <a:p>
            <a:pPr indent="0" marL="0">
              <a:buNone/>
            </a:pPr>
            <a:r>
              <a:rPr lang="en-US" sz="1300" i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Walks your history, finds the two topics you keep tripping on, hands you a 30–60 minute plan with five problems and a reason for each.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246120"/>
            <a:ext cx="3749040" cy="141732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246120"/>
            <a:ext cx="91440" cy="14173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337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37033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 · optional preferred difficulty range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3246120"/>
            <a:ext cx="3749040" cy="141732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3246120"/>
            <a:ext cx="91440" cy="14173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3337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0" y="37033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· temperature 0.4 · max 6 tool calls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0" y="3246120"/>
            <a:ext cx="3749040" cy="141732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0" y="3246120"/>
            <a:ext cx="91440" cy="14173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58200" y="3337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458200" y="37033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get_user_progress, identify_weak_topics, recommend_next_problems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800600"/>
            <a:ext cx="3749040" cy="141732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800600"/>
            <a:ext cx="91440" cy="14173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892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" y="52578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· weakTopics[] · 5 recommendedProblems · nextSession plan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43400" y="4800600"/>
            <a:ext cx="3749040" cy="141732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43400" y="4800600"/>
            <a:ext cx="91440" cy="14173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4892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EFFECTS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0" y="52578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row persisted with full payload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229600" y="4800600"/>
            <a:ext cx="3749040" cy="141732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0" y="4800600"/>
            <a:ext cx="91440" cy="14173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58200" y="4892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458200" y="52578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~2.5k tokens in / ~800 out · ≈ 0.0007 € per plan on Flash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 · COACH · DEEP DIVE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0" y="64465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TL;DR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TRIGGERS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ways the Coach gets called.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5577840" cy="429768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83080"/>
            <a:ext cx="109728" cy="42976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20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taps "Get my plan"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/profile or after any submission. User wants intentional guidance — Coach is loud, gives a full 30–60 min plan, ends with a specific next problem.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5029200"/>
            <a:ext cx="502920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16636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budget: tolerated up to 5 s · streamed.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1783080"/>
            <a:ext cx="5577840" cy="429768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783080"/>
            <a:ext cx="109728" cy="4297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1920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29400" y="22860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Auto-fires every 3rd submission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629400" y="301752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task triggered after the 3rd, 6th, 9th... submission. Lower stakes — Coach is quieter, only shows weakTopics if at least one is clearly underperforming.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29400" y="5029200"/>
            <a:ext cx="50292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516636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budget: ≤2 s · runs after ELO commit, non-blocking.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 · COACH · DEEP DIVE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0" y="64465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REASONING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Coach's 5-step bounded plan.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2148840" cy="3017520"/>
          </a:xfrm>
          <a:prstGeom prst="rect">
            <a:avLst/>
          </a:prstGeom>
          <a:solidFill>
            <a:srgbClr val="111133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2057400"/>
            <a:ext cx="685800" cy="6858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2057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337560"/>
            <a:ext cx="1874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get_user_progress(uid) → ELO, last 10 submissions.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26080" y="1874520"/>
            <a:ext cx="2148840" cy="3017520"/>
          </a:xfrm>
          <a:prstGeom prst="rect">
            <a:avLst/>
          </a:prstGeom>
          <a:solidFill>
            <a:srgbClr val="111133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2057400"/>
            <a:ext cx="685800" cy="6858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2057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017520" y="28803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Rank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063240" y="3337560"/>
            <a:ext cx="1874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identify_weak_topics(uid) → ordered list with avg scores.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66360" y="1874520"/>
            <a:ext cx="2148840" cy="3017520"/>
          </a:xfrm>
          <a:prstGeom prst="rect">
            <a:avLst/>
          </a:prstGeom>
          <a:solidFill>
            <a:srgbClr val="111133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97880" y="2057400"/>
            <a:ext cx="685800" cy="6858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97880" y="2057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257800" y="28803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Filter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303520" y="3337560"/>
            <a:ext cx="1874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recommend_next_problems(uid, weakTopics) → 5 unsolved fits.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06640" y="1874520"/>
            <a:ext cx="2148840" cy="3017520"/>
          </a:xfrm>
          <a:prstGeom prst="rect">
            <a:avLst/>
          </a:prstGeom>
          <a:solidFill>
            <a:srgbClr val="111133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38160" y="2057400"/>
            <a:ext cx="685800" cy="6858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0" y="2057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498080" y="28803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Compose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543800" y="3337560"/>
            <a:ext cx="1874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writes the summary + per-problem rationale + plan.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646920" y="1874520"/>
            <a:ext cx="2148840" cy="3017520"/>
          </a:xfrm>
          <a:prstGeom prst="rect">
            <a:avLst/>
          </a:prstGeom>
          <a:solidFill>
            <a:srgbClr val="111133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78440" y="2057400"/>
            <a:ext cx="685800" cy="6858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378440" y="2057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9738360" y="28803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Persist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784080" y="3337560"/>
            <a:ext cx="1874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Zod-parsed payload saved to Recommendation row.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52120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tools called in order = 5 deterministic steps. stepCountIs(6) leaves one slot for retry or self-correction.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 · COACH · DEEP DIVE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0" y="64465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LOOP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SYSTEM PROMPT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Coach's prompt — five non-negotiables.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5852160" cy="841248"/>
          </a:xfrm>
          <a:prstGeom prst="rect">
            <a:avLst/>
          </a:prstGeom>
          <a:solidFill>
            <a:srgbClr val="F5F3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83080"/>
            <a:ext cx="1051560" cy="84124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1051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00200" y="189280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a senior interview prep coach. Speak to one user, by name.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5852160" cy="841248"/>
          </a:xfrm>
          <a:prstGeom prst="rect">
            <a:avLst/>
          </a:prstGeom>
          <a:solidFill>
            <a:srgbClr val="F5F3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697480"/>
            <a:ext cx="1051560" cy="84124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697480"/>
            <a:ext cx="1051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00200" y="280720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Encouraging, specific, action-oriented. No platitudes.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852160" cy="841248"/>
          </a:xfrm>
          <a:prstGeom prst="rect">
            <a:avLst/>
          </a:prstGeom>
          <a:solidFill>
            <a:srgbClr val="F5F3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611880"/>
            <a:ext cx="1051560" cy="84124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611880"/>
            <a:ext cx="1051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00200" y="372160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pull progress + weak topics before recommending anything.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526280"/>
            <a:ext cx="5852160" cy="841248"/>
          </a:xfrm>
          <a:prstGeom prst="rect">
            <a:avLst/>
          </a:prstGeom>
          <a:solidFill>
            <a:srgbClr val="F5F3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526280"/>
            <a:ext cx="1051560" cy="8412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526280"/>
            <a:ext cx="1051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600200" y="463600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recommend a problem the user already attempted in the last 7 days.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5440680"/>
            <a:ext cx="5852160" cy="841248"/>
          </a:xfrm>
          <a:prstGeom prst="rect">
            <a:avLst/>
          </a:prstGeom>
          <a:solidFill>
            <a:srgbClr val="F5F3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5440680"/>
            <a:ext cx="1051560" cy="8412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5440680"/>
            <a:ext cx="1051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600200" y="555040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ONLY with JSON matching the CoachPlan schema. No prose outside.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92240" y="1783080"/>
            <a:ext cx="5349240" cy="4434840"/>
          </a:xfrm>
          <a:prstGeom prst="rect">
            <a:avLst/>
          </a:prstGeom>
          <a:solidFill>
            <a:srgbClr val="0B0922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9400" y="1856232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system prompt (excerpt)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56832" y="2148840"/>
            <a:ext cx="5074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lib/agents/coach.ts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</a:t>
            </a:r>
            <a:pPr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`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a senior interview prep coach.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 the user by name; be specific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about which gap to attack next.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Rules: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1. Call get_user_progress first.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2. Then identify_weak_topics.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3. Recommend EXACTLY 5 problems.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4. NEVER recommend a problem the user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attempted in the last 7 days.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5. Each rec must include a one-line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reason citing the user's own data.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6. Reply ONLY with the CoachPlan JSON.`;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 · COACH · DEEP DIVE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0" y="64465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TOOLS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 #1 — get_user_progress(userId).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state-of-the-user snapshot. Compact, recent, ranked.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5760720" cy="4023360"/>
          </a:xfrm>
          <a:prstGeom prst="rect">
            <a:avLst/>
          </a:prstGeom>
          <a:solidFill>
            <a:srgbClr val="0B0922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2677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response payload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" y="2560320"/>
            <a:ext cx="54864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returns: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user: { id, name, elo: </a:t>
            </a:r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1320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totalSubmissions: </a:t>
            </a:r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17,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streakDays: </a:t>
            </a:r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4,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recent: [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problemSlug: </a:t>
            </a:r>
            <a:pPr indent="0" marL="0">
              <a:buNone/>
            </a:pPr>
            <a:r>
              <a:rPr lang="en-US" sz="8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"java-equals-hashcode"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score: </a:t>
            </a:r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7825,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eloDelta: </a:t>
            </a:r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+5,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topics: [</a:t>
            </a:r>
            <a:pPr indent="0" marL="0">
              <a:buNone/>
            </a:pPr>
            <a:r>
              <a:rPr lang="en-US" sz="8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"oop"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8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"collections"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submittedAt: </a:t>
            </a:r>
            <a:pPr indent="0" marL="0">
              <a:buNone/>
            </a:pPr>
            <a:r>
              <a:rPr lang="en-US" sz="8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"2026-05-16T..."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 9 more, newest first ...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46520" y="2194560"/>
            <a:ext cx="5394960" cy="402336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9400" y="2286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 THE SHAPE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29400" y="2651760"/>
            <a:ext cx="50292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Hard-capped at 10 attempts.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the agent from drowning in token bloat. Coach makes decisions on signal, not depth.
</a:t>
            </a:r>
            <a:endParaRPr lang="en-US" sz="11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inlined.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recent submission carries its topic slugs — saves a follow-up join.
</a:t>
            </a:r>
            <a:endParaRPr lang="en-US" sz="11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 in the response.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uses it to choose tone: "4 days in a row, let's keep momentum" vs "welcome back".
</a:t>
            </a:r>
            <a:endParaRPr lang="en-US" sz="11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PII besides name.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password hash, IPs — never reach the agent context.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 · COACH · DEEP DIVE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0" y="64465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— PROGRESS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TOOLS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 #2 — identify_weak_topics: not just an average.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Naive: avgScore per topic. Real: time-weighted score, with a confidence floor so a single bad day doesn't tank a topic.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5760720" cy="393192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377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5394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weakness(t) =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5F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(1 - wScore) * confidence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5F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wScore(t) = sum( score_i * lambda^i )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5F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/ sum( lambda^i )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i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lambda = 0.8  (half-life ~3 attempts)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5F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confidence(t) = min(1, n_t / 3)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i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need &gt;= 3 attempts to fully trust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 by weakness DESC, return top 8.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46520" y="2286000"/>
            <a:ext cx="5394960" cy="3931920"/>
          </a:xfrm>
          <a:prstGeom prst="rect">
            <a:avLst/>
          </a:prstGeom>
          <a:solidFill>
            <a:srgbClr val="0B0922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235915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what the Coach sees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611112" y="2651760"/>
            <a:ext cx="51206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example: 17 submissions, 4 topics seen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slug: 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"concurrency"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avg: </a:t>
            </a:r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5400,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n: </a:t>
            </a:r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4,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weakness: </a:t>
            </a:r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0.46,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rank: </a:t>
            </a:r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slug: 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"jvm"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avg: </a:t>
            </a:r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6200,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n: </a:t>
            </a:r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3,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weakness: </a:t>
            </a:r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0.38,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rank: </a:t>
            </a:r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slug: 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"spring"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avg: </a:t>
            </a:r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7100,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n: </a:t>
            </a:r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weakness: </a:t>
            </a:r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0.10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// low n → damped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 · COACH · DEEP DIVE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0" y="64465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— WEAK TOPICS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TOOLS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 #3 — recommend_next_problems: a tiny MAB.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Multi-armed-bandit-flavoured: balance exploitation (do the weakest topic) with exploration (try something fresh).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2788920" cy="164592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331720"/>
            <a:ext cx="278892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5146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· Candidate set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97180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problems with at least one topic in weakTopics[0..2].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2331720"/>
            <a:ext cx="2788920" cy="164592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2331720"/>
            <a:ext cx="278892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25146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· Exclude recent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297180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anything attempted in the last 7 days. Anti-déjà-vu.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2331720"/>
            <a:ext cx="2788920" cy="164592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2331720"/>
            <a:ext cx="278892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25146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· Difficulty fit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55080" y="297180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|problem.baseElo − user.elo| ≤ 250. Just-out-of-reach.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98280" y="2331720"/>
            <a:ext cx="2788920" cy="164592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98280" y="2331720"/>
            <a:ext cx="278892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35440" y="25146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· Diversify topics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235440" y="297180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5 such that no single topic has &gt; 2 of them.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160520"/>
            <a:ext cx="11384280" cy="201168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2976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MULTI-ARMED-BANDIT FLAVOUR?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4617720"/>
            <a:ext cx="10972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Pure-greedy on weakness </a:t>
            </a:r>
            <a:pPr indent="0" marL="0">
              <a:buNone/>
            </a:pPr>
            <a:r>
              <a:rPr lang="en-US" sz="14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loop the user on concurrency until they hate concurrency. </a:t>
            </a:r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Pure-random </a:t>
            </a:r>
            <a:pPr indent="0" marL="0">
              <a:buNone/>
            </a:pPr>
            <a:r>
              <a:rPr lang="en-US" sz="14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wastes time on topics they already nailed.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pick 3 "exploit" (in the two weakest topics) and 2 "explore" (adjacent topic) — every plan teaches the user something familiar AND something new.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Coach LLM never sees this logic. It sees 5 cleanly-filtered candidates and writes the prose around them.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 · COACH · DEEP DIVE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0" y="64465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— RECOMMEND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OUTPUT CONTRACT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CoachPlan schema — agent ↔ database contract.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6400800" cy="4480560"/>
          </a:xfrm>
          <a:prstGeom prst="rect">
            <a:avLst/>
          </a:prstGeom>
          <a:solidFill>
            <a:srgbClr val="0B0922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81051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lib/agents/coach.ts — schema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21792" y="2103120"/>
            <a:ext cx="61264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</a:t>
            </a:r>
            <a:pPr indent="0" marL="0">
              <a:buNone/>
            </a:pPr>
            <a:r>
              <a:rPr lang="en-US" sz="8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indent="0" marL="0">
              <a:buNone/>
            </a:pPr>
            <a:r>
              <a:rPr lang="en-US" sz="8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CoachPlan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pPr indent="0" marL="0">
              <a:buNone/>
            </a:pPr>
            <a:r>
              <a:rPr lang="en-US" sz="8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z.object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summary:    </a:t>
            </a:r>
            <a:pPr indent="0" marL="0">
              <a:buNone/>
            </a:pPr>
            <a:r>
              <a:rPr lang="en-US" sz="8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z.string().min(40).max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(280),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tone:       </a:t>
            </a:r>
            <a:pPr indent="0" marL="0">
              <a:buNone/>
            </a:pPr>
            <a:r>
              <a:rPr lang="en-US" sz="8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z.enum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(["welcome", "streak", "rebound"]),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weakTopics: </a:t>
            </a:r>
            <a:pPr indent="0" marL="0">
              <a:buNone/>
            </a:pPr>
            <a:r>
              <a:rPr lang="en-US" sz="8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z.array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8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z.object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slug, name, avgScore, hint }),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).</a:t>
            </a:r>
            <a:pPr indent="0" marL="0">
              <a:buNone/>
            </a:pPr>
            <a:r>
              <a:rPr lang="en-US" sz="8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(0).</a:t>
            </a:r>
            <a:pPr indent="0" marL="0">
              <a:buNone/>
            </a:pPr>
            <a:r>
              <a:rPr lang="en-US" sz="8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(3),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recommendedProblems: </a:t>
            </a:r>
            <a:pPr indent="0" marL="0">
              <a:buNone/>
            </a:pPr>
            <a:r>
              <a:rPr lang="en-US" sz="8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z.array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8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z.object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slug, title, reason }),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).</a:t>
            </a:r>
            <a:pPr indent="0" marL="0">
              <a:buNone/>
            </a:pPr>
            <a:r>
              <a:rPr lang="en-US" sz="8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(5),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nextSession: </a:t>
            </a:r>
            <a:pPr indent="0" marL="0">
              <a:buNone/>
            </a:pPr>
            <a:r>
              <a:rPr lang="en-US" sz="8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z.object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durationMinutes: </a:t>
            </a:r>
            <a:pPr indent="0" marL="0">
              <a:buNone/>
            </a:pPr>
            <a:r>
              <a:rPr lang="en-US" sz="8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z.number().int().min(15).max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(90),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startWith:       </a:t>
            </a:r>
            <a:pPr indent="0" marL="0">
              <a:buNone/>
            </a:pPr>
            <a:r>
              <a:rPr lang="en-US" sz="8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z.string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(),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rationale:       </a:t>
            </a:r>
            <a:pPr indent="0" marL="0">
              <a:buNone/>
            </a:pPr>
            <a:r>
              <a:rPr lang="en-US" sz="8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z.string().max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(200),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}),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086600" y="1737360"/>
            <a:ext cx="4754880" cy="4480560"/>
          </a:xfrm>
          <a:prstGeom prst="rect">
            <a:avLst/>
          </a:prstGeom>
          <a:solidFill>
            <a:srgbClr val="111133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69480" y="18288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SCHEMA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269480" y="2194560"/>
            <a:ext cx="43891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40-280 chars.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a paragraph, not a one-liner. Fits the profile-page hero card.
</a:t>
            </a:r>
            <a:endParaRPr lang="en-US" sz="1150" dirty="0"/>
          </a:p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enum.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UI accent colour. Model picks; client paints.
</a:t>
            </a:r>
            <a:endParaRPr lang="en-US" sz="1150" dirty="0"/>
          </a:p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recommended.length(5).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Hard-locks the contract. Frontend renders exactly 5 cards.
</a:t>
            </a:r>
            <a:endParaRPr lang="en-US" sz="1150" dirty="0"/>
          </a:p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 has a reason.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makes the model justify each pick — no opaque recommendations.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 · COACH · DEEP DIVE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0" y="64465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CONTRACT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WALKTHROUGH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Andra, 17 submissions in. What the Coach sends back.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5577840" cy="443484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37360"/>
            <a:ext cx="5577840" cy="411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830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STATE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Andra · ELO 1320 · 4-day streak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submissions across 6 topics. Last 10 below.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concurrency-volatile-sync.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11880" y="3154680"/>
            <a:ext cx="182880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11880" y="3154680"/>
            <a:ext cx="896112" cy="182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0" y="31089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4900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4381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jvm-gc-overview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11880" y="3483864"/>
            <a:ext cx="182880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11880" y="3483864"/>
            <a:ext cx="1115568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343814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6100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7673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spring-bean-scopes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11880" y="3813048"/>
            <a:ext cx="182880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11880" y="3813048"/>
            <a:ext cx="1353312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0" y="376732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7400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40965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java-equals-hashcode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11880" y="4142232"/>
            <a:ext cx="182880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11880" y="4142232"/>
            <a:ext cx="1431036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0" y="40965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7825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44256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streams-collectors-deep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11880" y="4471416"/>
            <a:ext cx="182880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11880" y="4471416"/>
            <a:ext cx="1024128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0" y="442569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5600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49377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topics detected: concurrency (0.46), jvm (0.38).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52578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(streams flagged but only 1 attempt — confidence dampened)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63640" y="1737360"/>
            <a:ext cx="5577840" cy="443484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63640" y="1737360"/>
            <a:ext cx="5577840" cy="4114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46520" y="17830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OUTPUT  ·  tone: streak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46520" y="228600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"Four days in. Concurrency keeps catching you out — let's hit it head-on tonight, then warm down with a JVM piece you've nearly cracked."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446520" y="32461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· 5 PROBLEMS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46520" y="3611880"/>
            <a:ext cx="164592" cy="164592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75120" y="3566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executor-thread-pool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418320" y="3566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topic + hasn't been seen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46520" y="3941064"/>
            <a:ext cx="164592" cy="164592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75120" y="38953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transactions-isolation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418320" y="38953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 to concurrency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446520" y="4270248"/>
            <a:ext cx="164592" cy="164592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75120" y="4224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garbage-collection-tuning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9418320" y="4224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on yesterday's gc 6100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446520" y="4599432"/>
            <a:ext cx="164592" cy="164592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75120" y="45537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kafka-vs-rabbitmq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9418320" y="45537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— Spring track, easy stretch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446520" y="4928616"/>
            <a:ext cx="164592" cy="164592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75120" y="48828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streams-collectors-deep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9418320" y="48828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retry: needs a 2nd attempt for confidence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446520" y="53492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 · 45 min · start with executor-thread-pool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57200" y="6446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 · COACH · DEEP DIVE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486400" y="64465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PERSONALISATION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prompt, same model — totally different plans.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Personalisation isn't in the prompt; it's in the tool outputs. Two users → two different worlds the Coach sees.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5577840" cy="384048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331720"/>
            <a:ext cx="5577840" cy="3657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3774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ANDRA — 4-day streak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ELO 1320 · weak: concurrency, jvm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36118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Tone: streak. Recommends 3 concurrency + 1 jvm follow-up + 1 stretch.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0690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42976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Session: 45 min, start with executor-thread-pool.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4754880"/>
            <a:ext cx="52120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846320"/>
            <a:ext cx="5212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Andra has compounded enough signal that the Coach can be specific. The plan reads like a friend who's been watching.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2331720"/>
            <a:ext cx="5577840" cy="384048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2331720"/>
            <a:ext cx="557784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23774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VLAD — first plan request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46520" y="278892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46520" y="3017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ELO 1200 · 2 submissions · no clear weak topic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46520" y="33832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46520" y="36118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Tone: welcome. Recommends a curated 5-pack covering OOP, Collections, JVM, Spring.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46520" y="40690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46520" y="42976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Session: 30 min, start with java-equals-hashcode (the lowest-friction).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46520" y="4754880"/>
            <a:ext cx="52120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4846320"/>
            <a:ext cx="5212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floor kicks in. The Coach explicitly says "early days, this is the warm-up lap."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 · COACH · DEEP DIVE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0" y="64465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89920" y="1371600"/>
            <a:ext cx="548640" cy="548640"/>
          </a:xfrm>
          <a:prstGeom prst="ellipse">
            <a:avLst/>
          </a:prstGeom>
          <a:solidFill>
            <a:srgbClr val="111133"/>
          </a:solidFill>
          <a:ln w="15240">
            <a:solidFill>
              <a:srgbClr val="5EEA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36808" y="1426464"/>
            <a:ext cx="54864" cy="246888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20349" y="1602029"/>
            <a:ext cx="87782" cy="8778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21440" y="2194560"/>
            <a:ext cx="274320" cy="274320"/>
          </a:xfrm>
          <a:prstGeom prst="ellipse">
            <a:avLst/>
          </a:prstGeom>
          <a:solidFill>
            <a:srgbClr val="111133"/>
          </a:solidFill>
          <a:ln w="15240">
            <a:solidFill>
              <a:srgbClr val="FBBF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44884" y="2221992"/>
            <a:ext cx="27432" cy="12344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36654" y="2309774"/>
            <a:ext cx="43891" cy="4389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78892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Appendix</a:t>
            </a:r>
            <a:endParaRPr lang="en-US" sz="7200" dirty="0"/>
          </a:p>
        </p:txBody>
      </p:sp>
      <p:sp>
        <p:nvSpPr>
          <p:cNvPr id="11" name="Shape 9"/>
          <p:cNvSpPr/>
          <p:nvPr/>
        </p:nvSpPr>
        <p:spPr>
          <a:xfrm>
            <a:off x="868680" y="4297680"/>
            <a:ext cx="1097280" cy="365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4348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Cold-start · filter bubbles · plateau detection · offline eval.</a:t>
            </a:r>
            <a:endParaRPr lang="en-US" sz="2000" dirty="0"/>
          </a:p>
          <a:p>
            <a:pPr indent="0" marL="0">
              <a:buNone/>
            </a:pPr>
            <a:r>
              <a:rPr lang="en-US" sz="2000" i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recommender problems that don't apply to the Evaluator.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FAILURE MODES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Failure #1 — Cold start: no history to lean on.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5669280" cy="448056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37360"/>
            <a:ext cx="566928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830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WRONG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submissions → identify_weak_topics returns [].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naive Coach hallucinates.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nothing to ground on, the LLM picks topics from thin air or refuses to recommend.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during dev: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Empty-history Coach kept suggesting "streams-collectors-deep" — apparently because it appears first in the alphabetised topic list. Pure positional bias.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55080" y="1737360"/>
            <a:ext cx="5486400" cy="448056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1737360"/>
            <a:ext cx="548640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7830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FIX IT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37960" y="22860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curated cold-start pack, picked by humans.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37960" y="2926080"/>
            <a:ext cx="5212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switch.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totalSubmissions &lt; 3 → bypass the LLM Coach. Return a static "Welcome 5" pack curated for first-timers.
</a:t>
            </a:r>
            <a:endParaRPr lang="en-US" sz="11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 the pack.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topic family (OOP, Collections, JVM, Spring, Concurrency) — graded easy. Maximises information per attempt for the next plan.
</a:t>
            </a:r>
            <a:endParaRPr lang="en-US" sz="11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just lower the temperature?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can be confident AND wrong. Static fallback is the correct primitive for "we don't have data".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 · COACH · DEEP DIVE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0" y="64465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FAILURE MODES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Failure #2 — Filter bubble: same topic, forever.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11247120" cy="1371600"/>
          </a:xfrm>
          <a:prstGeom prst="rect">
            <a:avLst/>
          </a:prstGeom>
          <a:solidFill>
            <a:srgbClr val="FEF2F2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37360"/>
            <a:ext cx="109728" cy="13716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83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21031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"You're weak on concurrency." The user does 3 concurrency problems, still scores 5500–6000, the Coach keeps assigning concurrency. After session 6 the user closes the tab and never comes back. Recommender system 101: optimising for the visible metric (low score on a topic) creates a feedback loop that destroys engagement.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3749040" cy="269748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383280"/>
            <a:ext cx="374904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520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· Exploration quota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397764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rule in recommend_next_problems: ≥ 2 of the 5 recs MUST come from a topic outside the top-2 weakest. Built into the filter, not left to the LLM.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43400" y="3383280"/>
            <a:ext cx="3749040" cy="269748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3383280"/>
            <a:ext cx="374904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3520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· Per-topic cooldown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26280" y="397764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user has attempted the same topic 3 times in the last 24 hours, that topic is excluded from the next Coach pass — even if it's still the weakest.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0" y="3383280"/>
            <a:ext cx="3749040" cy="269748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3383280"/>
            <a:ext cx="374904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0" y="3520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· Variety in the prose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12480" y="397764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prompt tells Coach: "if the user is on attempt 4+ of the same topic with no improvement, change tactics — recommend an adjacent topic or a different difficulty."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 · COACH · DEEP DIVE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0" y="64465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FAILURE MODES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Failure #3 — Plateau: scores flatline, ELO flatlines.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5760720" cy="443484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74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· Andra's ELO across 25 sessions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94360" y="2194560"/>
          <a:ext cx="55321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355080" y="1783080"/>
            <a:ext cx="5486400" cy="443484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37960" y="18745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537960" y="219456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 σ over last 8 submissions &lt; 8 points → plateau flag. The Coach is told explicitly in its system prompt.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537960" y="31089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COACH DOES DIFFERENTLY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537960" y="3429000"/>
            <a:ext cx="5212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Switches tone to "rebound".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Acknowledges the flat curve; no sugar-coating.
</a:t>
            </a:r>
            <a:endParaRPr lang="en-US" sz="11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Pushes a harder problem.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Difficulty fit raised to user.elo + 200..400 instead of ±250.
</a:t>
            </a:r>
            <a:endParaRPr lang="en-US" sz="11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Triggers a re-attempt.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Recommends the lowest-scored prior problem so the user can see their own delta.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 · COACH · DEEP DIVE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0" y="64465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EVALUATION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know the Coach is actually helping.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Recommenders can't be graded against a gold set the way the Evaluator can. We use three orthogonal signals.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11247120" cy="128016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331720"/>
            <a:ext cx="109728" cy="12801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4048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REPLAY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7889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last 30 days of submissions. Replay them through a candidate Coach version. Compare the recs to what the user actually attempted next. Coverage = % of next-attempted problems that were in our top-5.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32918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Cheap. Runs in CI on every prompt change.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11247120" cy="128016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657600"/>
            <a:ext cx="109728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7307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ON LIVE TRAFFIC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41148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of plan requests routed to a challenger Coach (different prompt, different temp, different rec algo). Measure 7-day retention, ELO progression, # of problems attempted post-plan.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85800" y="46177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but ground-truth. Needs ≥200 plans/variant.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983480"/>
            <a:ext cx="11247120" cy="128016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983480"/>
            <a:ext cx="109728" cy="128016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50566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PANEL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54406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month: 3 senior Java engineers blind-grade 20 random Coach outputs on "would you give this advice?" 1–5. We track median + 1st-percentile.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85800" y="59436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Subjective but catches what metrics miss — bad tone, weak reasons.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 · COACH · DEEP DIVE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0" y="64465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21440" y="228600"/>
            <a:ext cx="365760" cy="365760"/>
          </a:xfrm>
          <a:prstGeom prst="ellipse">
            <a:avLst/>
          </a:prstGeom>
          <a:solidFill>
            <a:srgbClr val="111133"/>
          </a:solidFill>
          <a:ln w="15240">
            <a:solidFill>
              <a:srgbClr val="FBBF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86032" y="265176"/>
            <a:ext cx="36576" cy="16459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75059" y="382219"/>
            <a:ext cx="58522" cy="5852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47120" y="777240"/>
            <a:ext cx="182880" cy="182880"/>
          </a:xfrm>
          <a:prstGeom prst="ellipse">
            <a:avLst/>
          </a:prstGeom>
          <a:solidFill>
            <a:srgbClr val="111133"/>
          </a:solidFill>
          <a:ln w="15240">
            <a:solidFill>
              <a:srgbClr val="5EEA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29416" y="795528"/>
            <a:ext cx="18288" cy="82296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23930" y="854050"/>
            <a:ext cx="29261" cy="2926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704320" y="1051560"/>
            <a:ext cx="164592" cy="164592"/>
          </a:xfrm>
          <a:prstGeom prst="ellipse">
            <a:avLst/>
          </a:prstGeom>
          <a:solidFill>
            <a:srgbClr val="111133"/>
          </a:solidFill>
          <a:ln w="1524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78386" y="1068019"/>
            <a:ext cx="16459" cy="7406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773449" y="1120689"/>
            <a:ext cx="26335" cy="2633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· TAKEAWAYS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things to remember about the Coach.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457200" y="1828800"/>
            <a:ext cx="11247120" cy="804672"/>
          </a:xfrm>
          <a:prstGeom prst="rect">
            <a:avLst/>
          </a:prstGeom>
          <a:solidFill>
            <a:srgbClr val="111133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011680"/>
            <a:ext cx="438912" cy="43891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011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190195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Personalisation lives in tool outputs, not in prompts.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22402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LLM call produces different plans because get_user_progress returns different worlds.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724912"/>
            <a:ext cx="11247120" cy="804672"/>
          </a:xfrm>
          <a:prstGeom prst="rect">
            <a:avLst/>
          </a:prstGeom>
          <a:solidFill>
            <a:srgbClr val="111133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907792"/>
            <a:ext cx="438912" cy="43891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9077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0160" y="279806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matters more for Coach than Evaluator.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313639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 keeps day-to-day plans fresh. 0.2 would feel robotic; 0.7 would feel inconsistent.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621024"/>
            <a:ext cx="11247120" cy="804672"/>
          </a:xfrm>
          <a:prstGeom prst="rect">
            <a:avLst/>
          </a:prstGeom>
          <a:solidFill>
            <a:srgbClr val="111133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3803904"/>
            <a:ext cx="438912" cy="43891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8039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80160" y="369417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 needs a static fallback, not a brave prompt.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80160" y="403250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data isn't there, refuse the LLM call. Curate a human-written welcome pack.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517136"/>
            <a:ext cx="11247120" cy="804672"/>
          </a:xfrm>
          <a:prstGeom prst="rect">
            <a:avLst/>
          </a:prstGeom>
          <a:solidFill>
            <a:srgbClr val="111133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4700016"/>
            <a:ext cx="438912" cy="43891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7000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280160" y="459028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Recommenders fail by succeeding too narrowly.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280160" y="492861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quota + cooldown protect the user from the very signal they generated.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5413248"/>
            <a:ext cx="11247120" cy="804672"/>
          </a:xfrm>
          <a:prstGeom prst="rect">
            <a:avLst/>
          </a:prstGeom>
          <a:solidFill>
            <a:srgbClr val="111133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" y="5596128"/>
            <a:ext cx="438912" cy="43891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55961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280160" y="54864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recommenders three ways: replay, A/B, panel.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280160" y="582472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catches what the other two miss. Skip any one and you'll ship a bad Coach.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6355080"/>
            <a:ext cx="1097280" cy="365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64465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 · MPA 2026 · Coach is one of two — Evaluator deck completes the pair.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Grupa 506 · Universitatea din Bucuresti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Crucio — The Coach Agent</dc:title>
  <dc:subject>PptxGenJS Presentation</dc:subject>
  <dc:creator>Grupa 506 · Universitatea din Bucuresti</dc:creator>
  <cp:lastModifiedBy>Grupa 506 · Universitatea din Bucuresti</cp:lastModifiedBy>
  <cp:revision>1</cp:revision>
  <dcterms:created xsi:type="dcterms:W3CDTF">2026-05-17T15:28:37Z</dcterms:created>
  <dcterms:modified xsi:type="dcterms:W3CDTF">2026-05-17T15:28:37Z</dcterms:modified>
</cp:coreProperties>
</file>