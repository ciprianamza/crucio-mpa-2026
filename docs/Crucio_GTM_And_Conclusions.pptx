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 cents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LLM (Gemini Flash)</c:v>
                  </c:pt>
                  <c:pt idx="1">
                    <c:v>Hosting (Vercel/Postgres)</c:v>
                  </c:pt>
                  <c:pt idx="2">
                    <c:v>Voice (Web Speech API)</c:v>
                  </c:pt>
                  <c:pt idx="3">
                    <c:v>Email + Stripe fees</c:v>
                  </c:pt>
                  <c:pt idx="4">
                    <c:v>Other (logs, errors)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0</c:v>
                </c:pt>
                <c:pt idx="3">
                  <c:v>25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57200"/>
            <a:ext cx="548640" cy="548640"/>
          </a:xfrm>
          <a:prstGeom prst="ellipse">
            <a:avLst/>
          </a:prstGeom>
          <a:solidFill>
            <a:srgbClr val="15283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2416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247120" y="1097280"/>
            <a:ext cx="274320" cy="274320"/>
          </a:xfrm>
          <a:prstGeom prst="ellipse">
            <a:avLst/>
          </a:prstGeom>
          <a:solidFill>
            <a:srgbClr val="152830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GO-TO-MARKET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Capstone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Company.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MPA 2026 capstone becomes a € 9.99 / month Pro tier and a € 499 / seat B2B engine — without giving up the academic week.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" y="6172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€/mo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74720" y="6172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seat €/mo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80760" y="6172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first paid 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686800" y="6172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demo running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STATUS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MPA 2026 sprint actually shipped.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9144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Java prep · 15 problems · voice input · live at /problems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9144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3464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+ Coach in production · Gemini 2.5 Flash · Zod-validated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9144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Signup, login, leaderboard, profile, persisted history (Prisma 7 + SQLite)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89120"/>
            <a:ext cx="9144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572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4480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Foundation .docx · Pitch deck · Landing page · all 5 deliverables done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349240"/>
            <a:ext cx="109728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394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asset isn't the code — it's the 15 curated rubrics + the working two-agent loop + the team that built it in 6 weeks. That's what we monetise.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converging in 2026.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49040" cy="3749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7490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cross the grading threshold.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Claude Haiku 4.5 are now reliable enough to grade technical free-text. The thing that was "a future research project" in 2023 is a CRUD app in 2026.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749040" cy="3749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83080"/>
            <a:ext cx="374904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hiring shifts to senior + conceptual.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429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keeps cutting junior roles. The remaining interviews are heavier on system design, behavioural, and senior-level concept questions — exactly what Crucio grades.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749040" cy="3749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83080"/>
            <a:ext cx="3749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candidates underserved in their own language.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is English-only and US-bias. 60M+ European devs prep in their second language. Crucio can ship multi-language rubrics (EN, DE, FR, RO) faster than the incumbent can pivot.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TAM, SAM, SOM — back-of-envelope but defensible.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3716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3716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interview prep + technical hiring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LeetCode/Codility/HackerRank user spend + B2B ATS screening tooling. Approx. 28M devs preparing for interviews globally in 2026.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€ 9.4 B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3716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46120"/>
            <a:ext cx="13716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+ UK senior-track engineers + their employers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Java/Kotlin/Python developers across the EU + UK · 5.2M devs × ~€60 average annual spend on interview prep + B2B screening contracts.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0" y="3291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€ 780 M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09160"/>
            <a:ext cx="137160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00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18-month obtainable slice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ARR by EOY 2027: 8k Pro × €120/yr (€ 960k) + 80 B2B seats × €499/mo × 12 (€ 480k) + university licenses (€ 360k).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0" y="4754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€ 1.8 M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capture 0.23% of SAM in 18 months, the company is doing ~€1.8M ARR. That's enough for a seed round, not a moonshot.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sit in the 2x2.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828800"/>
            <a:ext cx="0" cy="4114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puzzle / coding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/ verbal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946" y="4924044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7266" y="48600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26764" y="438912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1084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2034" y="4677156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6354" y="46131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10928" y="397764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5248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Interviewing.io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56916" y="2619756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1236" y="25557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40734" y="315468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054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 B2B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51546" y="329184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63026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edge (free-text, verbal) is empty of B2B players. Pramp solved consumer-side mock interviews; nobody has shipped automated free-text screening for recruiters. That's our wedge.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only we do — for now.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77840" cy="20574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5778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Free-text grading on senior-level 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auto-grader fails on a verbal answer. We grade exactly that — with curated rubrics, not vibes.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577840" cy="20574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55778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input, browser-native, zero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7432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+ Whisper fallback. Practising verbally is the closest you get to the actual interview, and nobody offers it on a free tier.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577840" cy="20574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77640"/>
            <a:ext cx="55778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08760" y="42062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EU-language rubrics by end of 2026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9377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Romanian, German, French — written by senior engineers locally. The incumbent has to retranslate their entire content corpus to compete.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577840" cy="205740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77640"/>
            <a:ext cx="55778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605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0" y="42062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rubric library as IP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hand-calibrated rubrics by EOY. Each is 4 hours of senior eng. time × N reviewers. That's the moat — not the LLM, not the UI.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MONETISATION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one product, two revenue engines.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49040" cy="44348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7490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forever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 / day · 50 problems unlocked · public leaderboard · voice input · Evaluator only.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5394960"/>
            <a:ext cx="3383280" cy="3657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486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Top-of-funnel. Optimised for word-of-mouth in CS communities.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749040" cy="44348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783080"/>
            <a:ext cx="3749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10 €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attempts · 200+ problems · Coach agent · session plans · history export · ad-free.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5394960"/>
            <a:ext cx="3383280" cy="3657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5486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and butter. 8k subscribers by EOY 2027 → € 960k ARR.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1783080"/>
            <a:ext cx="3749040" cy="44348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783080"/>
            <a:ext cx="374904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SCREENING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499 €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84124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seat / month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 · custom rubrics · automated free-text screening · ATS integrations · audit log.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5394960"/>
            <a:ext cx="3383280" cy="3657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5486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whale. 80 seats by EOY 2027 → € 479k ARR. Higher ACV, slower sales cycle.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 tier — back-of-envelope economics.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874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783080"/>
            <a:ext cx="1874520" cy="7315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9.5 €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/ mo /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783080"/>
            <a:ext cx="18745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6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active life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83080"/>
            <a:ext cx="1874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783080"/>
            <a:ext cx="1874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8-20 €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2960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1783080"/>
            <a:ext cx="1874520" cy="14630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783080"/>
            <a:ext cx="1874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&gt;3:1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1498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ratio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PRO USER, PER MONTH (estimate)</a:t>
            </a:r>
            <a:endParaRPr lang="en-US" sz="11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3794760"/>
          <a:ext cx="112471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€0.50 / user / month. The expensive line is Stripe's 2.9% + €0.25 — not the AI.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90-DAY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MPA defence to first paid user.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841248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4630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Stabilise + instrument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240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dev.db → Vercel Postgres · Sentry + PostHog · per-route rate limiter · pin Gemini snapshot.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841248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14630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788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SEO foundation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3154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8 deep-dive posts (one per topic) · open-source 5 sample rubrics · seed r/cscareerquestions + r/javahelp.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841248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14630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703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live + Stripe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4069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Free vs Pro split · Stripe checkout · paywall after 5 daily attempts · launch on Product Hunt.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11247120" cy="841248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26280"/>
            <a:ext cx="14630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617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pilots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03120" y="49834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2 RO universities (UB · UTCN) as design partners · 500-student cohort · feedback loop weekly.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47120" cy="841248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440680"/>
            <a:ext cx="146304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406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10-12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5532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alpha · first 3 paying companies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03120" y="5897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to 50 EU recruiters · book 15 demos · close 3 at €499/seat × 2-3 seats avg.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first 1,000 users come from.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05156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(free)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r/cscareerquestions · r/learnjava · LinkedIn dev RO/PL/DE groups · Discord (Java, Spring). Show, don't sell — share rubrics, ask for feedback.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signups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1247120" cy="105156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09728" cy="10515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999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SEO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deep dives on the topics we grade. "Explain hashCode contract for senior interviews" → free post → mid-post CTA to try the problem.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6696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signups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11247120" cy="105156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69080"/>
            <a:ext cx="109728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partnerships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526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 for students at partner institutions. Romanian CS curricula are interview-prep-light — we fill the gap.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signups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21208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5321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5285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 outreach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5669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DMs to senior Java engineers on LinkedIn. Ask: "would you grade 5 answers for free if we credit you?" Builds rubric IP and brand simultaneously.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66960" y="5486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signups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Q1 mix: ~1,000 free signups → 5% Pro conversion → ~50 paying users → €500 MRR. Modest, but the funnel is real.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B2B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€499/seat eats the consumer tier for breakfast.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669280" cy="44348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€120 /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B2B seat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€5,988 / 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B2B seat = 50 Pro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Pro: instant · B2B: 4–6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Pro: ~12% / mo · B2B: ~2% / 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 acquire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Pro: SEO · B2B: founder-led sales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577840" cy="44348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2402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Async screening.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Recruiter sends a link. Candidate answers 3 questions verbally or in writing. Crucio grades + summarises in 60 seconds.
</a:t>
            </a:r>
            <a:endParaRPr lang="en-US" sz="115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 rubrics.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Companies ship their own rubric in our DSL. Their interview style, our infrastructure.
</a:t>
            </a:r>
            <a:endParaRPr lang="en-US" sz="115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ATS integrations.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Greenhouse, Lever, Workable. Score appears next to the candidate, with the per-criterion breakdown.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stops a YC-funded clone from killing us in 90 days.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82880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with a senior eng. can ship this stack in 4 weeks. The Next.js + Prisma + AI SDK pattern is public.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182880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MOAT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two-agent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defensible architectural choice — but the framework is now standard. Edge: months, not years.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182880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curated rubrics + gold 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03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rubric = ~4 hrs of senior eng. time. 200 × 4 = 800 person-hours of expert work that doesn't transfer.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26280"/>
            <a:ext cx="182880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617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improves our gold set, our regression tests, our prompt. The 1000th user makes the product better for the 1001st.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440680"/>
            <a:ext cx="182880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406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5532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 the EU dev community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5532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platform that takes Romanian/EU-language prep seriously. Hard to dislodge once you're the default reference.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here. Who we need next.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77840" cy="443484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5778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GRUPA 506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Ciprian Amza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350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AI Lead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07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Dina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 Yapici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264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Ivan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721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SME · Content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 Furdui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Marketing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part-time post-MPA defence. Founder stays full-time.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5577840" cy="44348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783080"/>
            <a:ext cx="557784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 · 3 HIRES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242316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350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 SME (PT, contract)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100 more rubrics by Q4. €4k/mo, 20h/wk.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333756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264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marketer (FT)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SEO + paid funnel. €3-4k/mo gross.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25196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178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AE (FT, on commission)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closes the first 20 B2B seats. Base + 15% MRR.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349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Y1 payroll: €100-120k. Funded by pre-seed + paid revenue.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FUNDING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→ angel → pre-seed. No premature fundraising.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00584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37160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0 - 3 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Founder-funded. €0 infra cost. Revenue covers Stripe + domain.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100584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1371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Angel round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3 - 6 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€ 150k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3063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angels at €15-30k each. SAFE @ €2-3M cap.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1247120" cy="100584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137160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636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6 - 12 mo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€ 500k - 1M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60720" y="4160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hit €15k MRR and 2 signed B2B logos. Tier-1 EU pre-seed funds.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11247120" cy="1005840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74920"/>
            <a:ext cx="1371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120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(optional)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5733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12 - 24 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5257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€ 2-3M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760720" y="5257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B2B engine is unambiguously working (&gt;€80k MRR, &lt;€5k CAC, &gt;12 logos).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raise only when revenue traction justifies dilution. Premature seed rounds kill more startups than under-funding.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things that could kill the company.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9144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bundles voice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ships free-text grading in 2026.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2011680"/>
            <a:ext cx="777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11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057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 EU language coverage + B2B screening (they're consumer-only); compete on rubric depth, not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surprise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triples Gemini Flash pricing overnight.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926080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9260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971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hedge already wired (AI SDK). Switch to GPT-4.1-mini or Claude Haiku 4.5 in a 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9144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 cycle is slower than we think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9-month cycle instead of 6 weeks.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840480"/>
            <a:ext cx="777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840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886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depend on B2B revenue for runway. Pro tier must be self-sustaining at €40-60k MRR by EOY 2027.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2628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disperses post-MPA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defence, 2 members go to corporate jobs.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4754880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4754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800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continued contribution as part-time + equity. Recruit 1 senior Java SME early.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4406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4068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AI-grading trust gap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5800" y="5852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buyers won't trust automated screening yet.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5669280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5669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5486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5715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human-in-the-loop variant: AI grades → senior eng. reviews top 20%. Same product, different positioning.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we hit, or we have a problem.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371600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live · Stripe wired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 MRR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1371600" cy="84124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alpha · 3 design partners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· 6 B2B seats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€5k MRR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1371600" cy="8412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657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· multi-language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paying · 20 seats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€20k MRR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26280"/>
            <a:ext cx="137160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26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integrations · pre-seed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paying · 40 seats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4572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€45k MRR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11247120" cy="841248"/>
          </a:xfrm>
          <a:prstGeom prst="rect">
            <a:avLst/>
          </a:prstGeom>
          <a:solidFill>
            <a:srgbClr val="ECFDF5"/>
          </a:solidFill>
          <a:ln w="381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440680"/>
            <a:ext cx="137160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4406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5486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Gemini Live mock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5486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paying · 80 seats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5486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€1.5M ARR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miss Q3 → re-plan. If we miss Q4 → revisit the wedge. Anything past Q1 2027 is a soft target.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EXIT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legitimate ways this ends — only one is failure.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3716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Profitable, founder-owned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€2-5M ARR by 2028. Pay the team well, don't raise seed. Crucio stays an indie SaaS forever.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· 60% probability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47120" cy="128016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54680"/>
            <a:ext cx="137160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ACQUIHIRE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EdTech / ATS player buys 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Greenhouse, Lever, or Codility buy the rubric IP + team for €5-15M in equity. 2027-28 timeline.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9536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· 25% probability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47120" cy="1280160"/>
          </a:xfrm>
          <a:prstGeom prst="rect">
            <a:avLst/>
          </a:prstGeom>
          <a:solidFill>
            <a:srgbClr val="ECFDF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26280"/>
            <a:ext cx="13716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→ Series A trajectory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€1M+ ARR by EOY 2027, raise €3-5M seed, push for €10M+ ARR by 2029. Optionality on much bigger outcomes.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· 15% probability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= none of the above. We don't ship paid, the team disperses, the repo becomes a portfolio link. We avoid that by shipping Pro in 90 days.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GTM · CAPSTONE → COMPANY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OPTIONS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228600"/>
            <a:ext cx="365760" cy="365760"/>
          </a:xfrm>
          <a:prstGeom prst="ellipse">
            <a:avLst/>
          </a:prstGeom>
          <a:solidFill>
            <a:srgbClr val="15283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214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247120" y="777240"/>
            <a:ext cx="182880" cy="182880"/>
          </a:xfrm>
          <a:prstGeom prst="ellipse">
            <a:avLst/>
          </a:prstGeom>
          <a:solidFill>
            <a:srgbClr val="152830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777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CONCLUSIONS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to take away.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3852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828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the asset, not the demo.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of work shipped a real product. Most capstones die here. Ours doesn't have 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1576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is a 90-day project, not a 2-year vision.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wired to Stripe is a sprint, not a moonshot. Ship it before MPA-defence muscle memory fades.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383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at €499/seat is the actual business.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pays salaries. B2B pays for the company. 1 seat = 50 Pro users. Build for both, but lean B2B.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27024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4160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library is the moat.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3444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LLM, not the UI. The 200 hand-calibrated rubrics by senior engineers — that's what nobody else has.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04748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4937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late, raise on traction.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3444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→ angel → pre-seed at €15k MRR. Premature seed rounds are how good products die underfunded.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11247120" cy="713232"/>
          </a:xfrm>
          <a:prstGeom prst="rect">
            <a:avLst/>
          </a:prstGeom>
          <a:solidFill>
            <a:srgbClr val="1528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82472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824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444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ship Pro by September, the rest is execution.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34440" y="6035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downstream of one decision: pick a launch date and don't move it.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MPA 2026 → 2027. The capstone is the start line.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Grupa 506 · Universitatea din Bucuresti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Crucio — From Capstone to Company</dc:title>
  <dc:subject>PptxGenJS Presentation</dc:subject>
  <dc:creator>Grupa 506 · Universitatea din Bucuresti</dc:creator>
  <cp:lastModifiedBy>Grupa 506 · Universitatea din Bucuresti</cp:lastModifiedBy>
  <cp:revision>1</cp:revision>
  <dcterms:created xsi:type="dcterms:W3CDTF">2026-05-17T15:29:29Z</dcterms:created>
  <dcterms:modified xsi:type="dcterms:W3CDTF">2026-05-17T15:29:29Z</dcterms:modified>
</cp:coreProperties>
</file>