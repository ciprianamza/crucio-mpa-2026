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2286000"/>
            <a:ext cx="5486400" cy="5486400"/>
          </a:xfrm>
          <a:prstGeom prst="ellipse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5486400"/>
            <a:ext cx="4572000" cy="4572000"/>
          </a:xfrm>
          <a:prstGeom prst="ellipse">
            <a:avLst/>
          </a:prstGeom>
          <a:solidFill>
            <a:srgbClr val="7E22CE">
              <a:alpha val="20000"/>
            </a:srgbClr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 2026 · AGENTIC AI STARTUP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Crucio</a:t>
            </a:r>
            <a:endParaRPr lang="en-US" sz="144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crucify the interview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Antrenament real pentru interviul real. Răspunde liber sau vorbește. Doi agenți AI te notează 0–10.000 pe rubrici curate.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APRILIE 2026 · Bucharest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6217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· v1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Pregătirea pentru interviul tehnic
</a:t>
            </a:r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antrenează </a:t>
            </a:r>
            <a:pPr indent="0" marL="0">
              <a:buNone/>
            </a:pPr>
            <a:r>
              <a:rPr lang="en-US" sz="5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abilitatea greșită.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Lumea petrece luni întregi rezolvând puzzle-uri pe LeetCode. Apoi intră într-un interviu real și îngheață când seniorul îi cere să-i explice cum funcționează garbage collector-ul în JVM, sau ce înseamnă SOLID în cod real.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Decalajul dintre LeetCode și interviul real e ce omoară offer-uri în 2026.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ACUM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Trei trenduri se aliniază.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3566160" cy="320040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77240" y="3749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interviurile pentru roluri senior conțin întrebări conceptuale verbale, nu algoritmice.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2194560"/>
            <a:ext cx="3566160" cy="320040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377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3.4M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0" y="3749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utilizatori activi lunar pe LeetCode — care exersează unealta greșită pentru ce contează.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2194560"/>
            <a:ext cx="3566160" cy="320040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377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8366760" y="3749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 în care LLM-urile sunt destul de mature pentru a nota raționament tehnic free-text.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 2 ani, agenții nu puteau să-ți noteze nuanțele. Astăzi pot.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 agenți AI care te interviuvează
</a:t>
            </a:r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așa cum ar face-o un </a:t>
            </a:r>
            <a:pPr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inginer real.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02920" y="3840480"/>
            <a:ext cx="3566160" cy="2468880"/>
          </a:xfrm>
          <a:prstGeom prst="rect">
            <a:avLst/>
          </a:prstGeom>
          <a:solidFill>
            <a:srgbClr val="17152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023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Free-text grading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46177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Tastezi răspunsul. Evaluator-ul îl notează 0–10.000 față de o rubrică curată — fără multiple choice, fără teste ascunse.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3840480"/>
            <a:ext cx="3566160" cy="2468880"/>
          </a:xfrm>
          <a:prstGeom prst="rect">
            <a:avLst/>
          </a:prstGeom>
          <a:solidFill>
            <a:srgbClr val="17152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4023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Vocea ta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46177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Apeși mic-ul și explici ca într-un screening real. Reps-uri vocale care chiar transferă în viața reală.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3840480"/>
            <a:ext cx="3566160" cy="2468880"/>
          </a:xfrm>
          <a:prstGeom prst="rect">
            <a:avLst/>
          </a:prstGeom>
          <a:solidFill>
            <a:srgbClr val="17152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4023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 personal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66760" y="46177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doilea agent îți analizează istoricul, identifică punctele slabe și îți spune EXACT ce să ataci în continuare.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FUNCȚIONEAZĂ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Cinci pași. Cincisprezece secunde.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31520" cy="7315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Alege o problemă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1945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întrebări curate Java pe SOLID, JVM, concurrency, Spring, design patterns. Fiecare are rubrică scrisă manual.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Răspunzi în text sau vorbit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1089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Tastezi sau apeși mic-ul. Web Speech API transcribe local — fără API key, fără cost, fără leak.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731520" cy="7315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57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Evaluator-ul te notează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4023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cu tool calling: cheamă rubrica, opțional inspectează submisiile anterioare, returnează scor + criterii + study hints.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731520" cy="7315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ELO + leaderboard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937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Rating-ul urcă sau coboară. Concurezi cu alți ingineri care se pregătesc pentru aceleași companii.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731520" cy="7315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86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Coach-ul îți planifică sesiunea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5852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Identifică topice slabe, recomandă 3 probleme nerezolvate, îți dă un plan concret de 30 de minute.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 PROBLEMĂ #1 · LIVE ÎN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Explică principiile SOLID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2/5 · Base ELO 1200 · Topic: SOLID + 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0" cy="420624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each of the 5 SOLID principles with a concrete Java example for each. Discuss the trade-offs and when applying them might be over-engineering.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CRITERIILE RUBRICII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all 5 principles (SRP, OCP, LSP, ISP, DIP) — 30%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Java examples per principle — 30%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awareness, when NOT to apply — 20%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Clarity, structure, idiomatic wording — 20%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5120640" cy="4206240"/>
          </a:xfrm>
          <a:prstGeom prst="rect">
            <a:avLst/>
          </a:prstGeom>
          <a:solidFill>
            <a:srgbClr val="17152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194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VERDICT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2514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8.420</a:t>
            </a:r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/ 10.000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583680" y="3611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SRP/OCP/DIP. LSP example a bit fuzzy. Trade-off discussion solid.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4297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5/5 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4/5 (LSP weak)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strong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5394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+12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5806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Coach: “Attack OCP next — your weakest sub-topic across 3 attempts.”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 PROBLEMĂ #2 · CONCURRENCY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volatile vs synchronized vs Atomic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4/5 · Base ELO 1500 · Topic: Concurrency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0" cy="420624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CRITERIILE RUBRICII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vs atomicity — 30%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java.util.concurrent.atomic &amp; CAS — 25%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Counter-example unde volatile alone e nesigur — 25%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(performanță, contention, JMM) — 20%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DETECTATE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“volatile e atomic” (greșit!)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locks și volatile incorect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Lipsă counter-example concret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5120640" cy="4206240"/>
          </a:xfrm>
          <a:prstGeom prst="rect">
            <a:avLst/>
          </a:prstGeom>
          <a:solidFill>
            <a:srgbClr val="17152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194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 VOCAL (transcris)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25146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“Volatile assures visibility but not atomicity. So a volatile counter++ can still race because read-modify-write isn't atomic. AtomicInteger uses CAS to make the increment atomic without locking. Synchronized gives both visibility and atomicity but at higher cost. For high contention, LongAdder beats AtomicLong because…”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5074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7.890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/ 10.000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583680" y="5852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+18 · weak on JMM happens-before · suggested next: thread pool sizing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 PROBLEMĂ #3 · BRUTAL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 tuning pentru un serviciu p99 latency-sensitive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5/5 · Base ELO 1700 · BRUTAL · staff-level question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54380" y="2194560"/>
            <a:ext cx="5212080" cy="182880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" y="2194560"/>
            <a:ext cx="521208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298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Diagnostics setup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2980" y="28346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Xlog:gc*, GC pause histogram, allocation rate, JFR / Mission Control. Ce loguri activezi, ce metrici colectezi.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5060" y="2194560"/>
            <a:ext cx="5212080" cy="182880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5060" y="2194560"/>
            <a:ext cx="521208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366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Hipoteze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23660" y="28346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rate prea mare; promovare prematură; humongous objects (G1); STW din full GC. În ce ordine le verifici.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4380" y="4251960"/>
            <a:ext cx="5212080" cy="182880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" y="4251960"/>
            <a:ext cx="521208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298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Knob choice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2980" y="4892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MaxGCPauseMillis, G1HeapRegionSize, IHOP, sau switch la ZGC/Shenandoah. Ce schimbi și de 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5060" y="4251960"/>
            <a:ext cx="5212080" cy="182880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5060" y="4251960"/>
            <a:ext cx="521208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366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framing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23660" y="4892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latency vs throughput. Când să schimbi colector vs când să dai mai mult heap.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Acesta este nivelul la care companiile cele mai bune validează seniorii. Crucio te antrenează la el.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PIAȚA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Mare. Matură. Subutilată.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3566160" cy="228600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$3.2B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Piață globală 2025 pentru technical-recruiting / interview prep.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2103120"/>
            <a:ext cx="3566160" cy="228600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0" y="3246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Creștere anuală edtech AI-augmented (Gartner, 2025).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2103120"/>
            <a:ext cx="3566160" cy="228600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800K+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366760" y="3246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+ new-CS-grad job seekers / an în EU + NA.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Banzile pe care le țintim: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engineers (TAM 4M+):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oricine se pregătește pentru interviuri tehnice.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candidate screening (SAM €240M):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companii sătule de LeetCode-ul fugit pe net.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&amp; bootcamps (SOM €18M):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licențe instituționale.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COMPETIȚIE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Niciun competitor nu evaluează cum EXPLICI.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1463040"/>
                <a:gridCol w="146304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LeetCode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HackerRank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Puzzle-uri algoritmice +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0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Notare răspuns text liber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0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Răspunsuri vocale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0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Notare pe rubrică (0–10K)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0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AI personal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0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gratuit complet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0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parțial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Diferențiator: text-liber + voce + agenți pe rubrici curate. LeetCode și restul nu pot replica fără 1+ an de seeding.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B2C + B2B premium.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2103120"/>
            <a:ext cx="2697480" cy="402336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evaluări / zi</a:t>
            </a:r>
            <a:endParaRPr lang="en-US" sz="1100" dirty="0"/>
          </a:p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complet pe rubrică</a:t>
            </a:r>
            <a:endParaRPr lang="en-US" sz="1100" dirty="0"/>
          </a:p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public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2103120"/>
            <a:ext cx="2697480" cy="4023360"/>
          </a:xfrm>
          <a:prstGeom prst="rect">
            <a:avLst/>
          </a:prstGeom>
          <a:solidFill>
            <a:srgbClr val="240A0E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2697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€9,99 / lună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20440" y="361188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Evaluări nelimitate</a:t>
            </a:r>
            <a:endParaRPr lang="en-US" sz="1100" dirty="0"/>
          </a:p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agent</a:t>
            </a:r>
            <a:endParaRPr lang="en-US" sz="1100" dirty="0"/>
          </a:p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</a:t>
            </a:r>
            <a:endParaRPr lang="en-US" sz="1100" dirty="0"/>
          </a:p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istoric</a:t>
            </a:r>
            <a:endParaRPr lang="en-US" sz="1100" dirty="0"/>
          </a:p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history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2697480" cy="402336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SCREENING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697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€499 / lună / seat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361188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dashboard</a:t>
            </a:r>
            <a:endParaRPr lang="en-US" sz="1100" dirty="0"/>
          </a:p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rubrici</a:t>
            </a:r>
            <a:endParaRPr lang="en-US" sz="1100" dirty="0"/>
          </a:p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Link-uri async candidați</a:t>
            </a:r>
            <a:endParaRPr lang="en-US" sz="1100" dirty="0"/>
          </a:p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 ATS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2103120"/>
            <a:ext cx="2697480" cy="402336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81160" y="2697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€3.000 / an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81160" y="361188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nelimitate</a:t>
            </a:r>
            <a:endParaRPr lang="en-US" sz="1100" dirty="0"/>
          </a:p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analytics</a:t>
            </a:r>
            <a:endParaRPr lang="en-US" sz="1100" dirty="0"/>
          </a:p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</a:t>
            </a:r>
            <a:endParaRPr lang="en-US" sz="1100" dirty="0"/>
          </a:p>
          <a:p>
            <a:pPr marL="342900" indent="-342900">
              <a:buSzPct val="100000"/>
              <a:buChar char="·"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problem packs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Avem MVP. Avem agenți. Avem leaderboard.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0" cy="4206240"/>
          </a:xfrm>
          <a:prstGeom prst="rect">
            <a:avLst/>
          </a:prstGeom>
          <a:solidFill>
            <a:srgbClr val="17152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 (APRILIE 2026)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 cu 15 probleme Java + rubrici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agenți (Evaluator + Coach) pe Gemini 2.5 Flash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prin Web Speech API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+ leaderboard + profile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DB + agenți toate funcționale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gratuit pentru tier-ul de testare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2011680"/>
            <a:ext cx="5486400" cy="420624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URMĂTOARELE 6 LUNI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60604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probleme: Java, Python, Kotlin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+ behavioral tracks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Whisper-based voice (multi-language)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alpha cu 3 design partners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2 universități românești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+ lansare Pro tier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Cinci roluri. Skin in the game.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2194560"/>
            <a:ext cx="3657600" cy="128016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/ AI Lead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614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Design-ul agenților, prompt engineering, calitatea rubricilor. Owner pe moat.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2194560"/>
            <a:ext cx="3657600" cy="128016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Engineer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27614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Prisma, Auth, API. Owner pe stabilitate.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92440" y="2194560"/>
            <a:ext cx="3657600" cy="128016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/ UX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7614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Tailwind, voice UI, animații. Owner pe “seamănă cu interviul real”.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3657600" cy="128016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SME / Content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2245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rubrici, curare probleme, ground-truth answers.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657600"/>
            <a:ext cx="3657600" cy="128016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GTM / Marketing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42245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content, university partnerships, B2B outbound.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2440" y="3657600"/>
            <a:ext cx="3657600" cy="1280160"/>
          </a:xfrm>
          <a:prstGeom prst="rect">
            <a:avLst/>
          </a:prstGeom>
          <a:solidFill>
            <a:srgbClr val="17152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(TBD)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1040" y="42245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 la nivel FAANG, validează rubricile.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2743200"/>
            <a:ext cx="7315200" cy="7315200"/>
          </a:xfrm>
          <a:prstGeom prst="ellipse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€80K pre-seed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12 luni de runway: content authoring, B2B GTM, infra scale-up.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4023360"/>
            <a:ext cx="3566160" cy="1645920"/>
          </a:xfrm>
          <a:prstGeom prst="rect">
            <a:avLst/>
          </a:prstGeom>
          <a:solidFill>
            <a:srgbClr val="17152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160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rubric quality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4023360"/>
            <a:ext cx="3566160" cy="1645920"/>
          </a:xfrm>
          <a:prstGeom prst="rect">
            <a:avLst/>
          </a:prstGeom>
          <a:solidFill>
            <a:srgbClr val="17152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160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26280" y="5029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scale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2440" y="4023360"/>
            <a:ext cx="3566160" cy="1645920"/>
          </a:xfrm>
          <a:prstGeom prst="rect">
            <a:avLst/>
          </a:prstGeom>
          <a:solidFill>
            <a:srgbClr val="17152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4160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321040" y="5029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B2B sales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Sau: 10K signed-up users până la finalul Q3. Testimonialul tău ne duce acolo.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6400800" cy="6400800"/>
          </a:xfrm>
          <a:prstGeom prst="ellipse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37744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Crucify </a:t>
            </a:r>
            <a:pPr algn="ctr" indent="0" marL="0">
              <a:buNone/>
            </a:pPr>
            <a:r>
              <a:rPr lang="en-US" sz="7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</a:t>
            </a:r>
            <a:pPr algn="ctr" indent="0" marL="0">
              <a:buNone/>
            </a:pPr>
            <a:r>
              <a:rPr lang="en-US" sz="7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next interview.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during testing. No credit card.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51960" y="4937760"/>
            <a:ext cx="365760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51960" y="4937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crucio.dev · Bucharest 2026 · MPA — Universitatea din București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Crucio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Crucio — Pitch deck (MPA 2026)</dc:title>
  <dc:subject>PptxGenJS Presentation</dc:subject>
  <dc:creator>Crucio Team</dc:creator>
  <cp:lastModifiedBy>Crucio Team</cp:lastModifiedBy>
  <cp:revision>1</cp:revision>
  <dcterms:created xsi:type="dcterms:W3CDTF">2026-05-08T17:35:00Z</dcterms:created>
  <dcterms:modified xsi:type="dcterms:W3CDTF">2026-05-08T17:35:00Z</dcterms:modified>
</cp:coreProperties>
</file>