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488168" y="548640"/>
            <a:ext cx="54864" cy="54864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41280" y="795528"/>
            <a:ext cx="548640" cy="5486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33304" y="740664"/>
            <a:ext cx="164592" cy="16459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70564" y="1097280"/>
            <a:ext cx="27432" cy="2743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47120" y="1220724"/>
            <a:ext cx="274320" cy="274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343132" y="1193292"/>
            <a:ext cx="82296" cy="8229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709910" y="1645920"/>
            <a:ext cx="22860" cy="2286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07040" y="1748790"/>
            <a:ext cx="228600" cy="2286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87050" y="1725930"/>
            <a:ext cx="68580" cy="6858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MPA 2026 · ARCHITECT BRIEFING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1463040"/>
            <a:ext cx="10972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Crucio</a:t>
            </a:r>
            <a:endParaRPr lang="en-US" sz="12000" dirty="0"/>
          </a:p>
        </p:txBody>
      </p:sp>
      <p:sp>
        <p:nvSpPr>
          <p:cNvPr id="14" name="Text 12"/>
          <p:cNvSpPr/>
          <p:nvPr/>
        </p:nvSpPr>
        <p:spPr>
          <a:xfrm>
            <a:off x="822960" y="32004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crucify the interview.</a:t>
            </a:r>
            <a:endParaRPr lang="en-US" sz="3200" dirty="0"/>
          </a:p>
        </p:txBody>
      </p:sp>
      <p:sp>
        <p:nvSpPr>
          <p:cNvPr id="15" name="Shape 13"/>
          <p:cNvSpPr/>
          <p:nvPr/>
        </p:nvSpPr>
        <p:spPr>
          <a:xfrm>
            <a:off x="868680" y="4160520"/>
            <a:ext cx="1097280" cy="36576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3891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Free-text Java interview prep, graded by two cooperating AI agents.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technical &amp; strategic deep-dive from the AI Architect Lead.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2960" y="6217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Grupa 506</a:t>
            </a:r>
            <a:pPr indent="0" marL="0">
              <a:buNone/>
            </a:pPr>
            <a:r>
              <a:rPr lang="en-US" sz="1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Universitatea din Bucuresti   ·   MPA 2026   ·   May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EXECUTIVE 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Crucio stands today, in 60 seconds.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5760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Crucio is an MVP-stage agentic AI product that grades free-text and voice answers to senior-level Java interview questions, using two cooperating LLM agents built on the Vercel AI SDK + Gemini 2.5 Flash.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3703320"/>
            <a:ext cx="5760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end-to-end in roughly 6 weeks by 5 students for the MPA 2026 capstone — Next.js 16 on Vercel, Prisma 7 on SQLite, Auth.js v5, Tailwind v4, shadcn/ui. Voice input is browser-native via the Web Speech API. Runtime cost today: 0 €.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583680" y="1691640"/>
            <a:ext cx="5120640" cy="1051560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0" y="1691640"/>
            <a:ext cx="91440" cy="10515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12280" y="173736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8412480" y="173736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— Evaluator + Coach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583680" y="2880360"/>
            <a:ext cx="5120640" cy="1051560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2880360"/>
            <a:ext cx="91440" cy="105156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12280" y="292608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4338C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8412480" y="292608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problems · 8 topics · curated rubrics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583680" y="4069080"/>
            <a:ext cx="5120640" cy="1051560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0" y="4069080"/>
            <a:ext cx="91440" cy="10515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12280" y="411480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8412480" y="411480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models · ELO ranking (K=32)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583680" y="5257800"/>
            <a:ext cx="5120640" cy="1051560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5257800"/>
            <a:ext cx="91440" cy="105156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12280" y="530352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0 €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8412480" y="530352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+ LLM cost for the demo tier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CRUCIO · MPA 2026 · ARCHITECT BRIEFING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943600" y="6446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Interview prep is training the wrong skill.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LeetCode optimises for: "did the auto-grader accept your code?"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2402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real senior interview optimises for: "can you explain it to another engineer?"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3108960"/>
            <a:ext cx="3749040" cy="246888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3108960"/>
            <a:ext cx="3749040" cy="7315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33756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73%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731520" y="443484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senior-role signals are conceptual 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verbal — not pure coding.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43400" y="3108960"/>
            <a:ext cx="3749040" cy="246888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43400" y="3108960"/>
            <a:ext cx="3749040" cy="7315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333756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3.4M+</a:t>
            </a:r>
            <a:endParaRPr lang="en-US" sz="5600" dirty="0"/>
          </a:p>
        </p:txBody>
      </p:sp>
      <p:sp>
        <p:nvSpPr>
          <p:cNvPr id="13" name="Text 11"/>
          <p:cNvSpPr/>
          <p:nvPr/>
        </p:nvSpPr>
        <p:spPr>
          <a:xfrm>
            <a:off x="4617720" y="443484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active learners on LeetCode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grinding the wrong primitive.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0" y="3108960"/>
            <a:ext cx="3749040" cy="246888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3108960"/>
            <a:ext cx="3749040" cy="7315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03920" y="333756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</a:t>
            </a:r>
            <a:endParaRPr lang="en-US" sz="5600" dirty="0"/>
          </a:p>
        </p:txBody>
      </p:sp>
      <p:sp>
        <p:nvSpPr>
          <p:cNvPr id="17" name="Text 15"/>
          <p:cNvSpPr/>
          <p:nvPr/>
        </p:nvSpPr>
        <p:spPr>
          <a:xfrm>
            <a:off x="8503920" y="443484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year LLMs are reliable enough to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technical free-text under a rubric.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57607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in 2026, LLMs are finally the missing senior-engineer feedback loop — on demand, at zero marginal cost.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CRUCIO · MPA 2026 · ARCHITECT BRIEFING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943600" y="6446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agents, two distinct jobs.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5577840" cy="402336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737360"/>
            <a:ext cx="5577840" cy="7315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9202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Grades the answer.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31520" y="2880360"/>
            <a:ext cx="50292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 free-text or transcribed answer, retrieve the rubric, score 0–10000, return strengths, gaps and study hints.
</a:t>
            </a:r>
            <a:endParaRPr lang="en-US" sz="11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get_problem_rubric(id), search_user_prior_answers(uid, pid)
</a:t>
            </a:r>
            <a:endParaRPr lang="en-US" sz="11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Zod-validated JSON → drives ELO update (K=32).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737360"/>
            <a:ext cx="5577840" cy="4023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1737360"/>
            <a:ext cx="5577840" cy="7315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19202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37960" y="22860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Plans the next session.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537960" y="2880360"/>
            <a:ext cx="50292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the user's history, find weak topics, recommend the next 5 unsolved problems and a concrete 30–60 min plan.
</a:t>
            </a:r>
            <a:endParaRPr lang="en-US" sz="11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get_user_progress, identify_weak_topics, recommend_next_problems
</a:t>
            </a:r>
            <a:endParaRPr lang="en-US" sz="11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study plan, persisted as a Recommendation row.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agents run on Gemini 2.5 Flash via Vercel AI SDK 6 with stopWhen: stepCountIs(6) — bounded tool loops, then a forced JSON answer.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CRUCIO · MPA 2026 · ARCHITECT BRIEFING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943600" y="6446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TEAM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Grupa 506 — five owners, one product.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11247120" cy="777240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828800"/>
            <a:ext cx="91440" cy="777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745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Ciprian Amza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11880" y="18745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· AI Lead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80760" y="187452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design, prompt eng., rubric ground-truth, architecture.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670048"/>
            <a:ext cx="11247120" cy="777240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670048"/>
            <a:ext cx="91440" cy="7772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715768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Andrei Dina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11880" y="271576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Engineer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80760" y="2715768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16, Prisma schema, Auth.js, /api routes, build &amp; deploy.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511296"/>
            <a:ext cx="11247120" cy="777240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511296"/>
            <a:ext cx="91440" cy="7772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557016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Esra Yapici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611880" y="3557016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· UX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080760" y="3557016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v4, shadcn/ui, voice UI, illustrations, brand.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352544"/>
            <a:ext cx="11247120" cy="777240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4352544"/>
            <a:ext cx="91440" cy="77724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398264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Bogdan Ivan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611880" y="4398264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SME · Content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080760" y="4398264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 authoring for 15 problems · ground-truth answers · QA.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5193792"/>
            <a:ext cx="11247120" cy="777240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5193792"/>
            <a:ext cx="91440" cy="777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5239512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Vlad Furdui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611880" y="523951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 · Marketing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080760" y="5239512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copy, pitch, partnership outreach, business foundation.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61722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practice, every member contributed cross-functionally where pressure was highest at any given week.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CRUCIO · MPA 2026 · ARCHITECT BRIEFING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943600" y="6446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SYSTEM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tiers, one round trip.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11247120" cy="1143000"/>
          </a:xfrm>
          <a:prstGeom prst="rect">
            <a:avLst/>
          </a:prstGeom>
          <a:solidFill>
            <a:srgbClr val="F5F3FF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83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(CLIENT)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26517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1214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/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Wand intro + illustrations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29000" y="2103120"/>
            <a:ext cx="26517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0440" y="21214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pages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20440" y="23774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Signup · Login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2103120"/>
            <a:ext cx="26517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21214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/problems/[slug]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09360" y="23774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Textarea + Web Speech API voice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9006840" y="2103120"/>
            <a:ext cx="26517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98280" y="21214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/leaderboard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098280" y="23774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50 ELO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080760" y="2880360"/>
            <a:ext cx="0" cy="27432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57200" y="3200400"/>
            <a:ext cx="11247120" cy="18288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291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SERVER (Node runtime, App Router)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" y="3611880"/>
            <a:ext cx="2651760" cy="685800"/>
          </a:xfrm>
          <a:prstGeom prst="rect">
            <a:avLst/>
          </a:prstGeom>
          <a:solidFill>
            <a:srgbClr val="1E1B4B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36301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Auth.js v5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3886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· Credentials provider · bcrypt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429000" y="3611880"/>
            <a:ext cx="2651760" cy="685800"/>
          </a:xfrm>
          <a:prstGeom prst="rect">
            <a:avLst/>
          </a:prstGeom>
          <a:solidFill>
            <a:srgbClr val="1E1B4B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20440" y="36301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/api/submit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520440" y="3886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Evaluator agent (Gemini 2.5 Flash)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217920" y="3611880"/>
            <a:ext cx="2651760" cy="685800"/>
          </a:xfrm>
          <a:prstGeom prst="rect">
            <a:avLst/>
          </a:prstGeom>
          <a:solidFill>
            <a:srgbClr val="1E1B4B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9360" y="36301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/api/coach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09360" y="3886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Coach agent (Gemini 2.5 Flash)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9006840" y="3611880"/>
            <a:ext cx="2651760" cy="685800"/>
          </a:xfrm>
          <a:prstGeom prst="rect">
            <a:avLst/>
          </a:prstGeom>
          <a:solidFill>
            <a:srgbClr val="1E1B4B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098280" y="36301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/api/auth/*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098280" y="3886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NextAuth handlers · /signup (Zod)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0080" y="44348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AI SDK 6 · @ai-sdk/google · Zod-validated tool I/O · stepCountIs(6)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080760" y="5074920"/>
            <a:ext cx="0" cy="27432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457200" y="5394960"/>
            <a:ext cx="5486400" cy="8686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54406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7 + better-sqlite3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40080" y="57607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models · User, Topic, Problem, ProblemTopic, Submission, Recommendation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217920" y="5394960"/>
            <a:ext cx="5486400" cy="86868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0" y="54406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2.5 Flash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400800" y="57607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· 15 req/min · 1500/day · provider-agnostic via AI SDK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CRUCIO · MPA 2026 · ARCHITECT BRIEFING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943600" y="6446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TECH STACK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each choice — defensible to a senior engineer.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11247120" cy="420624"/>
          </a:xfrm>
          <a:prstGeom prst="rect">
            <a:avLst/>
          </a:prstGeom>
          <a:solidFill>
            <a:srgbClr val="1E1B4B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84708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286000" y="184708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120640" y="1847088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this, not the alternative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249424"/>
            <a:ext cx="1124712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26771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286000" y="226771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+ Turbopack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120640" y="2267712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Router gives co-located server actions &amp; API routes; Turbopack ~10× faster HMR.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670048"/>
            <a:ext cx="11247120" cy="420624"/>
          </a:xfrm>
          <a:prstGeom prst="rect">
            <a:avLst/>
          </a:prstGeom>
          <a:solidFill>
            <a:srgbClr val="F5F3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68833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286000" y="268833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5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20640" y="2688336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type safety from Zod schemas through Prisma to React.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090672"/>
            <a:ext cx="1124712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1089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286000" y="31089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v4 + shadcn/ui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120640" y="3108960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components (no runtime lock-in) on accessible Radix primitives.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511296"/>
            <a:ext cx="11247120" cy="420624"/>
          </a:xfrm>
          <a:prstGeom prst="rect">
            <a:avLst/>
          </a:prstGeom>
          <a:solidFill>
            <a:srgbClr val="F5F3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52958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286000" y="352958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Auth.js v5 + bcryptjs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120640" y="3529584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sessions, Credentials provider, zero-vendor dependency.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931920"/>
            <a:ext cx="1124712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95020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286000" y="395020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 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120640" y="3950208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source of truth: runtime guards + inferred TS types + agent tool schemas.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352544"/>
            <a:ext cx="11247120" cy="420624"/>
          </a:xfrm>
          <a:prstGeom prst="rect">
            <a:avLst/>
          </a:prstGeom>
          <a:solidFill>
            <a:srgbClr val="F5F3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37083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 / DB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286000" y="437083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7 + SQLite (now)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120640" y="4370832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Zero-config local dev; trivial migration to Postgres for prod.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4773168"/>
            <a:ext cx="1124712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479145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runtime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286000" y="479145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AI SDK 6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120640" y="4791456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Provider-agnostic, native tool calling, streaming, useChat hook.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5193792"/>
            <a:ext cx="11247120" cy="420624"/>
          </a:xfrm>
          <a:prstGeom prst="rect">
            <a:avLst/>
          </a:prstGeom>
          <a:solidFill>
            <a:srgbClr val="F5F3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521208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2286000" y="52120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120640" y="5212080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cheap, generous free tier; structured-output reliable.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7200" y="5614416"/>
            <a:ext cx="1124712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563270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2286000" y="563270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Speech API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120640" y="5632704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Browser-native, no API key, $0 — defer Whisper until quality demands it.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57200" y="61722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third-party cost for the demo tier: 0 €. Every choice is free-tier or local.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CRUCIO · MPA 2026 · ARCHITECT BRIEFING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943600" y="6446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AGENT DEEP-DIVE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Evaluator: free-text → structured score in one round.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loop (≤6 tool calls)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2148840"/>
            <a:ext cx="411480" cy="41148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148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13055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submits answer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235000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/api/submit { problemId, body }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411480" cy="41148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743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272491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get_problem_rubric(id)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294436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 · weights · key concepts · red flags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337560"/>
            <a:ext cx="411480" cy="41148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337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33192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search_user_prior_answers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353872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pattern detection on same topic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931920"/>
            <a:ext cx="411480" cy="41148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931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391363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reasons under rubric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05840" y="413308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 · temperature 0.2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4526280"/>
            <a:ext cx="411480" cy="41148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526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05840" y="450799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Zod-validated JSON response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05840" y="472744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· oneLine · perCriterion · gaps · hints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5120640"/>
            <a:ext cx="411480" cy="41148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5120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05840" y="510235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ELO update K=32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05840" y="532180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newElo = playerRating + round(K · (actual − expected))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0" y="1783080"/>
            <a:ext cx="5303520" cy="4297680"/>
          </a:xfrm>
          <a:prstGeom prst="rect">
            <a:avLst/>
          </a:prstGeom>
          <a:solidFill>
            <a:srgbClr val="0B0922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0" y="18745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schema (Zod)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675120" y="2194560"/>
            <a:ext cx="49377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score:        z.number().int().min(0).max(10000),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oneLine:      z.string().max(180),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perCriterion: z.array(z.object({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name:    z.string(),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score:   z.number().min(0).max(100),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comment: z.string(),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})),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strengths:    z.array(z.string()).max(5),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gaps:         z.array(z.string()).max(5),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studyHints:   z.array(z.string()).max(3),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CRUCIO · MPA 2026 · ARCHITECT BRIEFING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943600" y="6446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 AGENT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AGENT DEEP-DIVE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Coach: history-aware, plan-shaped output.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the Coach can call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5669280" cy="960120"/>
          </a:xfrm>
          <a:prstGeom prst="rect">
            <a:avLst/>
          </a:prstGeom>
          <a:solidFill>
            <a:srgbClr val="0B0922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194560"/>
            <a:ext cx="73152" cy="9601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2860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get_user_progress(userId)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65176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ELO, total submissions, last 10 attempts.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291840"/>
            <a:ext cx="5669280" cy="960120"/>
          </a:xfrm>
          <a:prstGeom prst="rect">
            <a:avLst/>
          </a:prstGeom>
          <a:solidFill>
            <a:srgbClr val="0B0922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3291840"/>
            <a:ext cx="73152" cy="9601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3832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identify_weak_topics(userId)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37490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topics by lowest avg score across recent submissions.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4389120"/>
            <a:ext cx="5669280" cy="960120"/>
          </a:xfrm>
          <a:prstGeom prst="rect">
            <a:avLst/>
          </a:prstGeom>
          <a:solidFill>
            <a:srgbClr val="0B0922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4389120"/>
            <a:ext cx="73152" cy="9601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44805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recommend_next_problems(uid,…)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" y="484632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5 unsolved problems filtered by weak topics + difficulty fit.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0" y="1783080"/>
            <a:ext cx="5303520" cy="42976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18745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— personalised plan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675120" y="2240280"/>
            <a:ext cx="49377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sentence read on where the user stands today.
</a:t>
            </a:r>
            <a:endParaRPr lang="en-US" sz="12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weakTopics[]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slug · name · avgScore · one-line hint.
</a:t>
            </a:r>
            <a:endParaRPr lang="en-US" sz="12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recommendedProblems[]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≤5 items · slug · title · reason ("you missed equality contract twice").
</a:t>
            </a:r>
            <a:endParaRPr lang="en-US" sz="12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nextSession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30–60 min plan, persisted as a Recommendation row.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1722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temperature: 0.4 — Coach is more creative than Evaluator. Both bounded by stepCountIs(6).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CRUCIO · MPA 2026 · ARCHITECT BRIEFING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943600" y="6446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AGENT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DATA &amp; RANKING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models, one ranking formula.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schema — 6 models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2240280"/>
            <a:ext cx="5669280" cy="457200"/>
          </a:xfrm>
          <a:prstGeom prst="rect">
            <a:avLst/>
          </a:prstGeom>
          <a:solidFill>
            <a:srgbClr val="F5F3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240280"/>
            <a:ext cx="9144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27685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286000" y="227685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· elo (1200 start) · createdAt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788920"/>
            <a:ext cx="5669280" cy="457200"/>
          </a:xfrm>
          <a:prstGeom prst="rect">
            <a:avLst/>
          </a:prstGeom>
          <a:solidFill>
            <a:srgbClr val="F5F3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788920"/>
            <a:ext cx="9144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82549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286000" y="282549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slug · name · description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337560"/>
            <a:ext cx="5669280" cy="457200"/>
          </a:xfrm>
          <a:prstGeom prst="rect">
            <a:avLst/>
          </a:prstGeom>
          <a:solidFill>
            <a:srgbClr val="F5F3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337560"/>
            <a:ext cx="9144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37413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286000" y="337413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slug · title · difficulty · baseElo · rubric (JSON)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886200"/>
            <a:ext cx="5669280" cy="457200"/>
          </a:xfrm>
          <a:prstGeom prst="rect">
            <a:avLst/>
          </a:prstGeom>
          <a:solidFill>
            <a:srgbClr val="F5F3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886200"/>
            <a:ext cx="9144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92277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ProblemTopic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86000" y="392277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· M:N between Problem and Topic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434840"/>
            <a:ext cx="5669280" cy="457200"/>
          </a:xfrm>
          <a:prstGeom prst="rect">
            <a:avLst/>
          </a:prstGeom>
          <a:solidFill>
            <a:srgbClr val="F5F3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4434840"/>
            <a:ext cx="9144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447141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286000" y="447141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userId · problemId · body · evaluation · score · eloDelta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983480"/>
            <a:ext cx="5669280" cy="457200"/>
          </a:xfrm>
          <a:prstGeom prst="rect">
            <a:avLst/>
          </a:prstGeom>
          <a:solidFill>
            <a:srgbClr val="F5F3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4983480"/>
            <a:ext cx="9144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502005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286000" y="502005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userId · timestamp · payload (Coach plan)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0" y="1783080"/>
            <a:ext cx="5303520" cy="365760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0" y="18745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ELO math (lib/elo.ts)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0" y="2286000"/>
            <a:ext cx="49377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expected</a:t>
            </a:r>
            <a:pPr indent="0" marL="0">
              <a:buNone/>
            </a:pPr>
            <a:r>
              <a:rPr lang="en-US" sz="1400" dirty="0">
                <a:solidFill>
                  <a:srgbClr val="F5F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1 / (1 + 10^((</a:t>
            </a:r>
            <a:pPr indent="0" marL="0">
              <a:buNone/>
            </a:pPr>
            <a:r>
              <a:rPr lang="en-US" sz="14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problemBaseElo − playerRating</a:t>
            </a:r>
            <a:pPr indent="0" marL="0">
              <a:buNone/>
            </a:pPr>
            <a:r>
              <a:rPr lang="en-US" sz="1400" dirty="0">
                <a:solidFill>
                  <a:srgbClr val="F5F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/ 400))
</a:t>
            </a:r>
            <a:pPr indent="0" marL="0">
              <a:buNone/>
            </a:pPr>
            <a:r>
              <a:rPr lang="en-US" sz="14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actual</a:t>
            </a:r>
            <a:pPr indent="0" marL="0">
              <a:buNone/>
            </a:pPr>
            <a:r>
              <a:rPr lang="en-US" sz="1400" dirty="0">
                <a:solidFill>
                  <a:srgbClr val="F5F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= agentScore / 10000
</a:t>
            </a:r>
            <a:pPr indent="0" marL="0">
              <a:buNone/>
            </a:pPr>
            <a:r>
              <a:rPr lang="en-US" sz="14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delta</a:t>
            </a:r>
            <a:pPr indent="0" marL="0">
              <a:buNone/>
            </a:pPr>
            <a:r>
              <a:rPr lang="en-US" sz="1400" dirty="0">
                <a:solidFill>
                  <a:srgbClr val="F5F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= round(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pPr indent="0" marL="0">
              <a:buNone/>
            </a:pPr>
            <a:r>
              <a:rPr lang="en-US" sz="1400" dirty="0">
                <a:solidFill>
                  <a:srgbClr val="F5F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(actual − expected))
</a:t>
            </a:r>
            <a:pPr indent="0" marL="0">
              <a:buNone/>
            </a:pPr>
            <a:r>
              <a:rPr lang="en-US" sz="14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newElo</a:t>
            </a:r>
            <a:pPr indent="0" marL="0">
              <a:buNone/>
            </a:pPr>
            <a:r>
              <a:rPr lang="en-US" sz="1400" dirty="0">
                <a:solidFill>
                  <a:srgbClr val="F5F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= playerRating + delta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583680" y="49377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32 · users start at 1200 · problems span 1150–1700 baseElo (difficulty 2–5).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56692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ELO? Because retention compounds when progress is visible. The leaderboard makes solitary prep feel like a tournament — same lever Duolingo, Codeforces and Chess.com all pull.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CRUCIO · MPA 2026 · ARCHITECT BRIEFING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943600" y="6446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RANKING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FRONTEND &amp; UX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Voice-first interface, zero-cost stack.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5577840" cy="4297680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783080"/>
            <a:ext cx="557784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965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PRINCIPLES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50292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before you type.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senior interview is verbal — so is our primary input. Web Speech API gives free, browser-native dictation.
</a:t>
            </a:r>
            <a:endParaRPr lang="en-US" sz="13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textarea, one verdict.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multi-step wizards. Submit → score, rubric breakdown, next hints, all inline.
</a:t>
            </a:r>
            <a:endParaRPr lang="en-US" sz="13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progress visible.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ELO delta animates after every answer. The leaderboard turns solitary prep into a public arena.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1783080"/>
            <a:ext cx="5486400" cy="429768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63640" y="1783080"/>
            <a:ext cx="5486400" cy="7315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1965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STACK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37960" y="23317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092440" y="2331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App Router · server components by default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37960" y="28346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92440" y="28346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v4 with @theme tokens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37960" y="33375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092440" y="33375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shadcn/ui (Radix primitives, owned in /components/ui)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37960" y="38404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092440" y="38404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lucide-react · tree-shakeable SVG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37960" y="43434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092440" y="43434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Speech API · MediaRecorder fallback planned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37960" y="48463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UI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092440" y="4846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Sonner (non-blocking toasts) · animated ELO delta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37960" y="53492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Illustrations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092440" y="5349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Hand-coded SVG (Coder Boy/Girl) · not generated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CRUCIO · MPA 2026 · ARCHITECT BRIEFING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943600" y="6446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&amp; UX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AI/ML STRATEGY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bets that hold the agent system together.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11247120" cy="777240"/>
          </a:xfrm>
          <a:prstGeom prst="rect">
            <a:avLst/>
          </a:prstGeom>
          <a:solidFill>
            <a:srgbClr val="F5F3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783080"/>
            <a:ext cx="640080" cy="77724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8308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182880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calling &gt; pure prompting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214884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agents call typed tools to fetch real data (rubric, history). The model reasons over verified facts, not free-association.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651760"/>
            <a:ext cx="11247120" cy="777240"/>
          </a:xfrm>
          <a:prstGeom prst="rect">
            <a:avLst/>
          </a:prstGeom>
          <a:solidFill>
            <a:srgbClr val="F5F3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651760"/>
            <a:ext cx="640080" cy="77724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65176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80160" y="269748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 schemas everywhere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301752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response is parsed by a Zod schema before it can affect the DB. Hallucinations fail loudly, not silently.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520440"/>
            <a:ext cx="11247120" cy="777240"/>
          </a:xfrm>
          <a:prstGeom prst="rect">
            <a:avLst/>
          </a:prstGeom>
          <a:solidFill>
            <a:srgbClr val="F5F3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520440"/>
            <a:ext cx="640080" cy="77724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52044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80160" y="356616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loops (stepCountIs 6)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80160" y="388620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cap on tool invocations prevents runaway cost &amp; latency. After 6 steps, model must commit to the final JSON.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389120"/>
            <a:ext cx="11247120" cy="777240"/>
          </a:xfrm>
          <a:prstGeom prst="rect">
            <a:avLst/>
          </a:prstGeom>
          <a:solidFill>
            <a:srgbClr val="F5F3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4389120"/>
            <a:ext cx="640080" cy="77724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38912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80160" y="443484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Provider-agnostic via Vercel AI SDK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80160" y="475488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Gemini 2.5 Flash. Switching to GPT-4.1-mini, Claude Haiku 4.5 or open-source is a one-line provider swap — no rewiring.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5257800"/>
            <a:ext cx="11247120" cy="777240"/>
          </a:xfrm>
          <a:prstGeom prst="rect">
            <a:avLst/>
          </a:prstGeom>
          <a:solidFill>
            <a:srgbClr val="F5F3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5257800"/>
            <a:ext cx="640080" cy="77724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525780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280160" y="530352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rubrics &gt; generic prompts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280160" y="562356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Per-problem rubric (criteria + weights + key concepts + red flags) anchors scoring. Quality stays consistent across 15 → 200 problems.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CRUCIO · MPA 2026 · ARCHITECT BRIEFING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43600" y="6446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STRATEGY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DEVOPS &amp; DEPLOYMENT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git push to live URL in &lt;90 seconds.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2103120" cy="1371600"/>
          </a:xfrm>
          <a:prstGeom prst="rect">
            <a:avLst/>
          </a:prstGeom>
          <a:solidFill>
            <a:srgbClr val="1E1B4B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828800"/>
            <a:ext cx="2103120" cy="7315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965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2286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 push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2697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→ GitHub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78608" y="2514600"/>
            <a:ext cx="182880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752344" y="1828800"/>
            <a:ext cx="2103120" cy="1371600"/>
          </a:xfrm>
          <a:prstGeom prst="rect">
            <a:avLst/>
          </a:prstGeom>
          <a:solidFill>
            <a:srgbClr val="1E1B4B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52344" y="1828800"/>
            <a:ext cx="2103120" cy="7315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89504" y="1965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889504" y="2286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Vercel CI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889504" y="2697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· prisma generate · next build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873752" y="2514600"/>
            <a:ext cx="182880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047488" y="1828800"/>
            <a:ext cx="2103120" cy="1371600"/>
          </a:xfrm>
          <a:prstGeom prst="rect">
            <a:avLst/>
          </a:prstGeom>
          <a:solidFill>
            <a:srgbClr val="1E1B4B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47488" y="1828800"/>
            <a:ext cx="2103120" cy="7315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84648" y="1965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184648" y="2286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Preview URL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184648" y="2697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per-PR isolated env · seedable DB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168896" y="2514600"/>
            <a:ext cx="182880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342632" y="1828800"/>
            <a:ext cx="2103120" cy="1371600"/>
          </a:xfrm>
          <a:prstGeom prst="rect">
            <a:avLst/>
          </a:prstGeom>
          <a:solidFill>
            <a:srgbClr val="1E1B4B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42632" y="1828800"/>
            <a:ext cx="2103120" cy="7315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79792" y="1965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479792" y="2286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Promote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479792" y="2697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to master → production deploy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9464040" y="2514600"/>
            <a:ext cx="182880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637776" y="1828800"/>
            <a:ext cx="2103120" cy="1371600"/>
          </a:xfrm>
          <a:prstGeom prst="rect">
            <a:avLst/>
          </a:prstGeom>
          <a:solidFill>
            <a:srgbClr val="1E1B4B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637776" y="1828800"/>
            <a:ext cx="2103120" cy="7315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774936" y="1965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774936" y="2286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Edge runtime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774936" y="2697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+ ISR · API routes on Node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7200" y="3657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4023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77240" y="4023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vercel.json checked-in, region pinned (iad)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4389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77240" y="43891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migrations run on deploy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57200" y="4754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77240" y="47548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vars in Vercel UI (no secrets in repo)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7200" y="5120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77240" y="51206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ESLint + tsc --noEmit in build pipeline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217920" y="3657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runway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217920" y="4023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537960" y="4023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Sentry / Logflare for error + agent traces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217920" y="4389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537960" y="43891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Actions: test + smoke on PR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217920" y="4754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6537960" y="47548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SQLite → Vercel Postgres for prod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217920" y="5120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6537960" y="51206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limiter on /api/submit (per-user)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CRUCIO · MPA 2026 · ARCHITECT BRIEFING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943600" y="6446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SECURITY &amp; TRUST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threat surfaces: classical web &amp; agentic AI.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5486400" cy="2194560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828800"/>
            <a:ext cx="5486400" cy="45720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90195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Authentication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2331720"/>
            <a:ext cx="5029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Auth.js v5 with Credentials provider · bcryptjs (cost 10) · JWT session cookies (httpOnly, secure, sameSite=lax). No third-party auth dependency.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828800"/>
            <a:ext cx="5486400" cy="2194560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0" y="1828800"/>
            <a:ext cx="548640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90195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Input validation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46520" y="2331720"/>
            <a:ext cx="5029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API route runs Zod schemas before hitting Prisma. Signup, submission body, and Coach trigger are all schema-gated. SQL injection moot (Prisma).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5486400" cy="2194560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4206240"/>
            <a:ext cx="5486400" cy="4572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427939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safety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85800" y="4709160"/>
            <a:ext cx="5029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inputs/outputs are Zod-validated; agent cannot write arbitrary SQL. System prompts pin role, tone, and refuse off-topic requests. Prompt-injection from user body is sandboxed in the answer field.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4206240"/>
            <a:ext cx="5486400" cy="2194560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4206240"/>
            <a:ext cx="5486400" cy="4572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427939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Privacy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46520" y="4709160"/>
            <a:ext cx="5029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bcrypt password are the only PII. No third-party analytics in MVP. GDPR DSAR path exists via Prisma queries. Voice audio never leaves the browser.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CRUCIO · MPA 2026 · ARCHITECT BRIEFING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943600" y="6446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TRUST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· SCALABILITY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dev.db to Series-A traffic — the path.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1371600" cy="475488"/>
          </a:xfrm>
          <a:prstGeom prst="rect">
            <a:avLst/>
          </a:prstGeom>
          <a:solidFill>
            <a:srgbClr val="1E1B4B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84708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28800" y="1828800"/>
            <a:ext cx="2377440" cy="475488"/>
          </a:xfrm>
          <a:prstGeom prst="rect">
            <a:avLst/>
          </a:prstGeom>
          <a:solidFill>
            <a:srgbClr val="1E1B4B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38528" y="1847088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(MVP)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06240" y="1828800"/>
            <a:ext cx="2377440" cy="475488"/>
          </a:xfrm>
          <a:prstGeom prst="rect">
            <a:avLst/>
          </a:prstGeom>
          <a:solidFill>
            <a:srgbClr val="1E1B4B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15968" y="1847088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1k DAU (beta)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583680" y="1828800"/>
            <a:ext cx="2560320" cy="475488"/>
          </a:xfrm>
          <a:prstGeom prst="rect">
            <a:avLst/>
          </a:prstGeom>
          <a:solidFill>
            <a:srgbClr val="1E1B4B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93408" y="1847088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 DAU (Pro tier)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44000" y="1828800"/>
            <a:ext cx="2560320" cy="475488"/>
          </a:xfrm>
          <a:prstGeom prst="rect">
            <a:avLst/>
          </a:prstGeom>
          <a:solidFill>
            <a:srgbClr val="1E1B4B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53728" y="1847088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(B2B)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304288"/>
            <a:ext cx="13716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322576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2304288"/>
            <a:ext cx="237744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38528" y="2322576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&lt;50 (course demo)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206240" y="2304288"/>
            <a:ext cx="237744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15968" y="2322576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583680" y="2304288"/>
            <a:ext cx="256032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93408" y="2322576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144000" y="2304288"/>
            <a:ext cx="256032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53728" y="2322576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orgs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2779776"/>
            <a:ext cx="1371600" cy="475488"/>
          </a:xfrm>
          <a:prstGeom prst="rect">
            <a:avLst/>
          </a:prstGeom>
          <a:solidFill>
            <a:srgbClr val="F5F3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2798064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28800" y="2779776"/>
            <a:ext cx="2377440" cy="475488"/>
          </a:xfrm>
          <a:prstGeom prst="rect">
            <a:avLst/>
          </a:prstGeom>
          <a:solidFill>
            <a:srgbClr val="F5F3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938528" y="2798064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file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206240" y="2779776"/>
            <a:ext cx="2377440" cy="475488"/>
          </a:xfrm>
          <a:prstGeom prst="rect">
            <a:avLst/>
          </a:prstGeom>
          <a:solidFill>
            <a:srgbClr val="F5F3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15968" y="2798064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Postgres 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583680" y="2779776"/>
            <a:ext cx="2560320" cy="475488"/>
          </a:xfrm>
          <a:prstGeom prst="rect">
            <a:avLst/>
          </a:prstGeom>
          <a:solidFill>
            <a:srgbClr val="F5F3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93408" y="279806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+ Prisma Accelerate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144000" y="2779776"/>
            <a:ext cx="2560320" cy="475488"/>
          </a:xfrm>
          <a:prstGeom prst="rect">
            <a:avLst/>
          </a:prstGeom>
          <a:solidFill>
            <a:srgbClr val="F5F3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253728" y="279806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HA + read replicas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3255264"/>
            <a:ext cx="13716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3273552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828800" y="3255264"/>
            <a:ext cx="237744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938528" y="3273552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 free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206240" y="3255264"/>
            <a:ext cx="237744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315968" y="3273552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paid tier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583680" y="3255264"/>
            <a:ext cx="256032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93408" y="3273552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+ GPT-4.1-mini hedge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9144000" y="3255264"/>
            <a:ext cx="256032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253728" y="3273552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BYO-key + on-prem option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57200" y="3730752"/>
            <a:ext cx="1371600" cy="475488"/>
          </a:xfrm>
          <a:prstGeom prst="rect">
            <a:avLst/>
          </a:prstGeom>
          <a:solidFill>
            <a:srgbClr val="F5F3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66928" y="374904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828800" y="3730752"/>
            <a:ext cx="2377440" cy="475488"/>
          </a:xfrm>
          <a:prstGeom prst="rect">
            <a:avLst/>
          </a:prstGeom>
          <a:solidFill>
            <a:srgbClr val="F5F3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938528" y="374904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206240" y="3730752"/>
            <a:ext cx="2377440" cy="475488"/>
          </a:xfrm>
          <a:prstGeom prst="rect">
            <a:avLst/>
          </a:prstGeom>
          <a:solidFill>
            <a:srgbClr val="F5F3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315968" y="374904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cache /problems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583680" y="3730752"/>
            <a:ext cx="2560320" cy="475488"/>
          </a:xfrm>
          <a:prstGeom prst="rect">
            <a:avLst/>
          </a:prstGeom>
          <a:solidFill>
            <a:srgbClr val="F5F3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693408" y="374904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Redis: rubric + leaderboard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9144000" y="3730752"/>
            <a:ext cx="2560320" cy="475488"/>
          </a:xfrm>
          <a:prstGeom prst="rect">
            <a:avLst/>
          </a:prstGeom>
          <a:solidFill>
            <a:srgbClr val="F5F3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253728" y="374904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cluster + CDN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457200" y="4206240"/>
            <a:ext cx="13716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66928" y="422452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1828800" y="4206240"/>
            <a:ext cx="237744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938528" y="4224528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4206240" y="4206240"/>
            <a:ext cx="237744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315968" y="4224528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Per-IP @ Edge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6583680" y="4206240"/>
            <a:ext cx="256032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693408" y="4224528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+ per-route quotas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9144000" y="4206240"/>
            <a:ext cx="256032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253728" y="4224528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Org-level seat limits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457200" y="4681728"/>
            <a:ext cx="1371600" cy="475488"/>
          </a:xfrm>
          <a:prstGeom prst="rect">
            <a:avLst/>
          </a:prstGeom>
          <a:solidFill>
            <a:srgbClr val="F5F3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66928" y="4700016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1828800" y="4681728"/>
            <a:ext cx="2377440" cy="475488"/>
          </a:xfrm>
          <a:prstGeom prst="rect">
            <a:avLst/>
          </a:prstGeom>
          <a:solidFill>
            <a:srgbClr val="F5F3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938528" y="4700016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Speech API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4206240" y="4681728"/>
            <a:ext cx="2377440" cy="475488"/>
          </a:xfrm>
          <a:prstGeom prst="rect">
            <a:avLst/>
          </a:prstGeom>
          <a:solidFill>
            <a:srgbClr val="F5F3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315968" y="4700016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6583680" y="4681728"/>
            <a:ext cx="2560320" cy="475488"/>
          </a:xfrm>
          <a:prstGeom prst="rect">
            <a:avLst/>
          </a:prstGeom>
          <a:solidFill>
            <a:srgbClr val="F5F3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693408" y="4700016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API for accuracy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9144000" y="4681728"/>
            <a:ext cx="2560320" cy="475488"/>
          </a:xfrm>
          <a:prstGeom prst="rect">
            <a:avLst/>
          </a:prstGeom>
          <a:solidFill>
            <a:srgbClr val="F5F3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9253728" y="4700016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Whisper or BYO STT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457200" y="5157216"/>
            <a:ext cx="13716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66928" y="5175504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1828800" y="5157216"/>
            <a:ext cx="237744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938528" y="5175504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logs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4206240" y="5157216"/>
            <a:ext cx="237744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315968" y="5175504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Sentry + Logflare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6583680" y="5157216"/>
            <a:ext cx="256032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693408" y="517550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agent traces (Helicone)</a:t>
            </a:r>
            <a:endParaRPr lang="en-US" sz="1100" dirty="0"/>
          </a:p>
        </p:txBody>
      </p:sp>
      <p:sp>
        <p:nvSpPr>
          <p:cNvPr id="82" name="Shape 80"/>
          <p:cNvSpPr/>
          <p:nvPr/>
        </p:nvSpPr>
        <p:spPr>
          <a:xfrm>
            <a:off x="9144000" y="5157216"/>
            <a:ext cx="256032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9253728" y="517550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 hooks · audit log</a:t>
            </a:r>
            <a:endParaRPr lang="en-US" sz="1100" dirty="0"/>
          </a:p>
        </p:txBody>
      </p:sp>
      <p:sp>
        <p:nvSpPr>
          <p:cNvPr id="84" name="Text 82"/>
          <p:cNvSpPr/>
          <p:nvPr/>
        </p:nvSpPr>
        <p:spPr>
          <a:xfrm>
            <a:off x="457200" y="6126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cost is small because Prisma + AI SDK abstract the two riskiest layers (DB, LLM).</a:t>
            </a:r>
            <a:endParaRPr lang="en-US" sz="1100" dirty="0"/>
          </a:p>
        </p:txBody>
      </p:sp>
      <p:sp>
        <p:nvSpPr>
          <p:cNvPr id="85" name="Text 83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CRUCIO · MPA 2026 · ARCHITECT BRIEFING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5943600" y="6446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· 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horizons — Now / Next 6 / Vision.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3749040" cy="4434840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828800"/>
            <a:ext cx="3749040" cy="640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745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1762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– May 2026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2606040"/>
            <a:ext cx="3383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live · 15 Java problems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agents on Gemini 2.5 Flash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input · Web Speech API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ELO + leaderboard + profile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auth (signup/login/logout)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MPA deliverables in /docs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828800"/>
            <a:ext cx="3749040" cy="4434840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43400" y="1828800"/>
            <a:ext cx="3749040" cy="64008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18745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6 MONTHS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26280" y="21762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– Nov 2026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0" y="2606040"/>
            <a:ext cx="3383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problems · Java + Python + Kotlin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Track: System design, Behavioural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API (multi-language voice)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alpha · 3 design partners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at 2 Romanian universities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· Pro tier €9.99 /mo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Screening · €499 /mo/seat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0" y="1828800"/>
            <a:ext cx="3749040" cy="4434840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1828800"/>
            <a:ext cx="3749040" cy="64008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0" y="18745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412480" y="21762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2027+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458200" y="2606040"/>
            <a:ext cx="3383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companion (React Native)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mock interview (Gemini Live)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 marketplace by senior eng.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 integrations (Greenhouse, Lever)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rubrics (EN, DE, FR)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Internal-mobility product for enterprise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CRUCIO · MPA 2026 · ARCHITECT BRIEFING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943600" y="6446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· RISKS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risks we are actively watching.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11247120" cy="841248"/>
          </a:xfrm>
          <a:prstGeom prst="rect">
            <a:avLst/>
          </a:prstGeom>
          <a:solidFill>
            <a:srgbClr val="F5F3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828800"/>
            <a:ext cx="91440" cy="8412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874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cost spike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2402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paid tier hits as DAU scales. Rate-limited free tier today.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749040" y="2057400"/>
            <a:ext cx="777240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49040" y="205740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63440" y="18745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63440" y="210312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Hedge: GPT-4.1-mini + Claude Haiku 4.5; cache rubric calls; rate-limit per user.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11247120" cy="841248"/>
          </a:xfrm>
          <a:prstGeom prst="rect">
            <a:avLst/>
          </a:prstGeom>
          <a:solidFill>
            <a:srgbClr val="F5F3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743200"/>
            <a:ext cx="91440" cy="8412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7889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Grading accuracy drift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" y="31546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versions silently change; rubric scores wobble.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749040" y="2971800"/>
            <a:ext cx="77724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49040" y="297180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63440" y="27889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63440" y="301752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a held-out gold set (50 answers, human-graded); regression-test every model bump.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657600"/>
            <a:ext cx="11247120" cy="841248"/>
          </a:xfrm>
          <a:prstGeom prst="rect">
            <a:avLst/>
          </a:prstGeom>
          <a:solidFill>
            <a:srgbClr val="F5F3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657600"/>
            <a:ext cx="91440" cy="8412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3703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LeetCode bundles voice grading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5800" y="40690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Incumbent ships a similar feature in 2026.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749040" y="3886200"/>
            <a:ext cx="77724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49040" y="388620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663440" y="3703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663440" y="393192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on focus (free-text &gt; toy puzzles), depth of rubrics, EU-language coverage.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572000"/>
            <a:ext cx="11247120" cy="841248"/>
          </a:xfrm>
          <a:prstGeom prst="rect">
            <a:avLst/>
          </a:prstGeom>
          <a:solidFill>
            <a:srgbClr val="F5F3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4572000"/>
            <a:ext cx="91440" cy="8412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4617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in answers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85800" y="49834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user tries to make Evaluator self-score 10000.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749040" y="4800600"/>
            <a:ext cx="77724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49040" y="480060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663440" y="46177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663440" y="484632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user text in delimited blocks; Zod range-clip scores 0–10000; never let user text live outside the answer field.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5486400"/>
            <a:ext cx="11247120" cy="841248"/>
          </a:xfrm>
          <a:prstGeom prst="rect">
            <a:avLst/>
          </a:prstGeom>
          <a:solidFill>
            <a:srgbClr val="F5F3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5486400"/>
            <a:ext cx="91440" cy="8412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" y="5532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availability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85800" y="58978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team disperses after MPA defence in June.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749040" y="5715000"/>
            <a:ext cx="777240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749040" y="571500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663440" y="55321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663440" y="576072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architecture (this deck); recruit 1 part-time Java SME + 1 full-stack via UB alumni network.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CRUCIO · MPA 2026 · ARCHITECT BRIEFING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943600" y="6446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86032" y="228600"/>
            <a:ext cx="36576" cy="36576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21440" y="393192"/>
            <a:ext cx="365760" cy="36576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49456" y="356616"/>
            <a:ext cx="109728" cy="10972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329416" y="777240"/>
            <a:ext cx="18288" cy="18288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247120" y="859536"/>
            <a:ext cx="182880" cy="1828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311128" y="841248"/>
            <a:ext cx="54864" cy="54864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778386" y="1051560"/>
            <a:ext cx="16459" cy="16459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704320" y="1125626"/>
            <a:ext cx="164592" cy="16459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761927" y="1109167"/>
            <a:ext cx="49378" cy="4937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· WHAT I'D BUILD NEXT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architectural bets for the next 90 days.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457200" y="1874520"/>
            <a:ext cx="11247120" cy="777240"/>
          </a:xfrm>
          <a:prstGeom prst="rect">
            <a:avLst/>
          </a:prstGeom>
          <a:solidFill>
            <a:srgbClr val="0B0922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039112"/>
            <a:ext cx="457200" cy="45720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039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80160" y="19202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a Gold Set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226771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human-graded answers locked in /eval. Regression-test every model + prompt change.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743200"/>
            <a:ext cx="11247120" cy="777240"/>
          </a:xfrm>
          <a:prstGeom prst="rect">
            <a:avLst/>
          </a:prstGeom>
          <a:solidFill>
            <a:srgbClr val="0B0922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2907792"/>
            <a:ext cx="457200" cy="45720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2907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80160" y="278892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hedge live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80160" y="313639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 GPT-4.1-mini and Claude Haiku 4.5 alongside Gemini. Route by latency + score variance.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611880"/>
            <a:ext cx="11247120" cy="777240"/>
          </a:xfrm>
          <a:prstGeom prst="rect">
            <a:avLst/>
          </a:prstGeom>
          <a:solidFill>
            <a:srgbClr val="0B0922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3776472"/>
            <a:ext cx="457200" cy="45720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776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80160" y="36576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 DSL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80160" y="400507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the in-DB JSON rubric into a versioned TypeScript DSL. Lint at PR time. Senior-eng contributions land safely.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480560"/>
            <a:ext cx="11247120" cy="777240"/>
          </a:xfrm>
          <a:prstGeom prst="rect">
            <a:avLst/>
          </a:prstGeom>
          <a:solidFill>
            <a:srgbClr val="0B0922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" y="4645152"/>
            <a:ext cx="457200" cy="45720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4645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280160" y="452628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+ Redis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280160" y="487375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dev.db → Vercel Postgres. Cache rubric + leaderboard reads in Redis. Sub-50ms p95 on /problems.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5349240"/>
            <a:ext cx="11247120" cy="777240"/>
          </a:xfrm>
          <a:prstGeom prst="rect">
            <a:avLst/>
          </a:prstGeom>
          <a:solidFill>
            <a:srgbClr val="0B0922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0080" y="5513832"/>
            <a:ext cx="457200" cy="45720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5513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280160" y="539496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observability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280160" y="574243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Helicone-style trace per tool call: input, output, latency, score deviation. Debug agents like APIs, not like vibes.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7200" y="6355080"/>
            <a:ext cx="1097280" cy="36576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64465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Crucio · MPA 2026 · Grupa 506 · Universitatea din Bucuresti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Grupa 506 · Universitatea din Bucuresti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Crucio MPA 2026 — Architect Briefing</dc:title>
  <dc:subject>PptxGenJS Presentation</dc:subject>
  <dc:creator>Grupa 506 · Universitatea din Bucuresti</dc:creator>
  <cp:lastModifiedBy>Grupa 506 · Universitatea din Bucuresti</cp:lastModifiedBy>
  <cp:revision>1</cp:revision>
  <dcterms:created xsi:type="dcterms:W3CDTF">2026-05-17T15:29:29Z</dcterms:created>
  <dcterms:modified xsi:type="dcterms:W3CDTF">2026-05-17T15:29:29Z</dcterms:modified>
</cp:coreProperties>
</file>